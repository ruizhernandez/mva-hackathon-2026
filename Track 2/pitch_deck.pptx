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Este proyecto empieza con un niño real que vive con Aneuploidía Variegada Mosaico — una enfermedad ultra-rara sin tratamiento aprobado. En el Track 1 encontramos un diagnóstico genético probablemente causal. Esta propuesta es sobre qué podemos hacer con ese diagnóstico: dos medicamentos ya aprobados que valdría la pena investigar, elegidos por cómo exactamente esta enfermedad rompe una célula — no por adivinar.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[0:20-0:50] El paciente tiene dos copias dañadas del gen BUB1B — una es una variante patogénica conocida, ya registrada en ClinVar, y la otra es una variante missense nueva, predicha como dañina por SIFT y PolyPhen. BUB1B produce la proteína BUBR1, una pieza central del checkpoint del huso mitótico — el sistema de control de calidad que evita que una célula se divida hasta que cada cromosoma esté correctamente conectado.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[0:50-1:30] Cuando BUBR1 baja de cierto nivel funcional, las células ya no pueden sostener ese checkpoint de forma confiable. Los cromosomas se separan demasiado pronto, las células terminan con el número equivocado de cromosomas, y esa inestabilidad — repetida a lo largo de toda una vida de divisiones celulares — es lo que predispone a estos niños a cánceres como el rabdomiosarcoma. Esto no es solo la afirmación de un paper: cruzamos la red de interacciones de STRING y las vías de Reactome, y BUB1B aparece, de forma independiente en ambas bases de datos, justo en el centro de este módulo del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[1:30-2:20] Entonces la pregunta para el Track 2 no es '¿cómo arreglamos el checkpoint?' — es 'dado que esta célula ya tiene un checkpoint débil, ¿qué medicamento ya aprobado explota esa debilidad?' Encontramos dos candidatos, cada uno respaldado por un estudio mecanístico específico, no una corazonada. La bosutinib, un medicamento aprobado para leucemia, demostró en un estudio independiente ser selectivamente tóxica para células con un checkpoint mitótico defectuoso — exactamente la biología de esta célula. La metformina, uno de los medicamentos más usados y más seguros del mundo, demostró en otro estudio estresar selectivamente a las células aneuploides a través de la vía de AMPK. Ambos son baratos, genéricos, y ya están profundamente caracterizados en humanos — algo enormemente importante para una enfermedad ultra-rara sin ningún desarrollo farmacéutico dedicado. Y algo igual de importante: descartamos explícitamente toda una clase de medicamentos — los inhibidores de checkpoint ya en desarrollo oncológico — porque en este paciente empujarían justo en la dirección equivocada.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[2:20-2:35] No nos quedamos solo en el argumento mecanístico — verificamos si bosutinib realmente se une a su blanco. La entrada PDB 4MXO es una estructura resuelta por cristalografía de bosutinib unido a la quinasa Src humana — exactamente el mecanismo que Schukken et al. mostraron como selectivamente tóxico en células con checkpoint defectuoso. Otra estructura resuelta confirma que también se une a la quinasa Abl. Eso es más fuerte que una predicción de docking — es una estructura que alguien ya resolvió experimentalmente.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[2:35-2:50] Este mecanismo no es exclusivo de esta mutación. Se generaliza a los otros dos genes conocidos de MVA, y a tumores con inestabilidad cromosómica en general — la misma vulnerabilidad ha aparecido de forma independiente en investigación de glioblastoma y cáncer de próstata. El proceso que usamos — de fenotipo, a mecanismo, a medicamentos aprobados encontrados en la literatura — es reutilizable para el próximo caso sin diagnosticar, no solo para 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[2:50-3:00] Estas son hipótesis para investigar, no tratamientos comprobados — validarlas en las propias células de este niño es el siguiente paso obvio. Pero para una familia que hace seis semanas no tenía respuesta genética, creemos que este es un punto de partida real y comprobable.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353C"/>
        </a:solidFill>
      </p:bgPr>
    </p:bg>
    <p:spTree>
      <p:nvGrpSpPr>
        <p:cNvPr id="1" name=""/>
        <p:cNvGrpSpPr/>
        <p:nvPr/>
      </p:nvGrpSpPr>
      <p:grpSpPr>
        <a:xfrm>
          <a:off x="0" y="0"/>
          <a:ext cx="0" cy="0"/>
          <a:chOff x="0" y="0"/>
          <a:chExt cx="0" cy="0"/>
        </a:xfrm>
      </p:grpSpPr>
      <p:sp>
        <p:nvSpPr>
          <p:cNvPr id="2" name="Shape 0"/>
          <p:cNvSpPr/>
          <p:nvPr/>
        </p:nvSpPr>
        <p:spPr>
          <a:xfrm>
            <a:off x="9966960" y="-1188720"/>
            <a:ext cx="3840480" cy="3840480"/>
          </a:xfrm>
          <a:prstGeom prst="ellipse">
            <a:avLst/>
          </a:prstGeom>
          <a:solidFill>
            <a:srgbClr val="023E45"/>
          </a:solidFill>
          <a:ln/>
        </p:spPr>
      </p:sp>
      <p:sp>
        <p:nvSpPr>
          <p:cNvPr id="3" name="Shape 1"/>
          <p:cNvSpPr/>
          <p:nvPr/>
        </p:nvSpPr>
        <p:spPr>
          <a:xfrm>
            <a:off x="-914400" y="4846320"/>
            <a:ext cx="3108960" cy="3108960"/>
          </a:xfrm>
          <a:prstGeom prst="ellipse">
            <a:avLst/>
          </a:prstGeom>
          <a:solidFill>
            <a:srgbClr val="023E45"/>
          </a:solidFill>
          <a:ln/>
        </p:spPr>
      </p:sp>
      <p:sp>
        <p:nvSpPr>
          <p:cNvPr id="4" name="Text 2"/>
          <p:cNvSpPr txBox="1"/>
          <p:nvPr/>
        </p:nvSpPr>
        <p:spPr>
          <a:xfrm>
            <a:off x="731520" y="2148840"/>
            <a:ext cx="10698480" cy="1188720"/>
          </a:xfrm>
          <a:prstGeom prst="rect">
            <a:avLst/>
          </a:prstGeom>
          <a:noFill/>
          <a:ln/>
        </p:spPr>
        <p:txBody>
          <a:bodyPr wrap="square" lIns="0" tIns="0" rIns="0" bIns="0" rtlCol="0" anchor="ctr"/>
          <a:lstStyle/>
          <a:p>
            <a:pPr algn="l" indent="0" marL="0">
              <a:buNone/>
            </a:pPr>
            <a:r>
              <a:rPr lang="en-US" sz="5400" b="1" dirty="0">
                <a:solidFill>
                  <a:srgbClr val="FFFFFF"/>
                </a:solidFill>
                <a:latin typeface="Cambria" pitchFamily="34" charset="0"/>
                <a:ea typeface="Cambria" pitchFamily="34" charset="-122"/>
                <a:cs typeface="Cambria" pitchFamily="34" charset="-120"/>
              </a:rPr>
              <a:t>BUB1B-MVA</a:t>
            </a:r>
            <a:endParaRPr lang="en-US" sz="5400" dirty="0"/>
          </a:p>
        </p:txBody>
      </p:sp>
      <p:sp>
        <p:nvSpPr>
          <p:cNvPr id="5" name="Text 3"/>
          <p:cNvSpPr txBox="1"/>
          <p:nvPr/>
        </p:nvSpPr>
        <p:spPr>
          <a:xfrm>
            <a:off x="731520" y="3246120"/>
            <a:ext cx="10058400" cy="640080"/>
          </a:xfrm>
          <a:prstGeom prst="rect">
            <a:avLst/>
          </a:prstGeom>
          <a:noFill/>
          <a:ln/>
        </p:spPr>
        <p:txBody>
          <a:bodyPr wrap="square" lIns="0" tIns="0" rIns="0" bIns="0" rtlCol="0" anchor="ctr"/>
          <a:lstStyle/>
          <a:p>
            <a:pPr algn="l" indent="0" marL="0">
              <a:buNone/>
            </a:pPr>
            <a:r>
              <a:rPr lang="en-US" sz="2200" dirty="0">
                <a:solidFill>
                  <a:srgbClr val="D9F0EE"/>
                </a:solidFill>
                <a:latin typeface="Calibri" pitchFamily="34" charset="0"/>
                <a:ea typeface="Calibri" pitchFamily="34" charset="-122"/>
                <a:cs typeface="Calibri" pitchFamily="34" charset="-120"/>
              </a:rPr>
              <a:t>From Diagnosis to Drug Repurposing Hypothesis</a:t>
            </a:r>
            <a:endParaRPr lang="en-US" sz="2200" dirty="0"/>
          </a:p>
        </p:txBody>
      </p:sp>
      <p:sp>
        <p:nvSpPr>
          <p:cNvPr id="6" name="Shape 4"/>
          <p:cNvSpPr/>
          <p:nvPr/>
        </p:nvSpPr>
        <p:spPr>
          <a:xfrm>
            <a:off x="731520" y="4343400"/>
            <a:ext cx="128016" cy="128016"/>
          </a:xfrm>
          <a:prstGeom prst="ellipse">
            <a:avLst/>
          </a:prstGeom>
          <a:solidFill>
            <a:srgbClr val="02C39A"/>
          </a:solidFill>
          <a:ln/>
        </p:spPr>
      </p:sp>
      <p:sp>
        <p:nvSpPr>
          <p:cNvPr id="7" name="Text 5"/>
          <p:cNvSpPr txBox="1"/>
          <p:nvPr/>
        </p:nvSpPr>
        <p:spPr>
          <a:xfrm>
            <a:off x="960120" y="4224528"/>
            <a:ext cx="7772400" cy="365760"/>
          </a:xfrm>
          <a:prstGeom prst="rect">
            <a:avLst/>
          </a:prstGeom>
          <a:noFill/>
          <a:ln/>
        </p:spPr>
        <p:txBody>
          <a:bodyPr wrap="square" lIns="0" tIns="0" rIns="0" bIns="0" rtlCol="0" anchor="ctr"/>
          <a:lstStyle/>
          <a:p>
            <a:pPr algn="l" indent="0" marL="0">
              <a:buNone/>
            </a:pPr>
            <a:r>
              <a:rPr lang="en-US" sz="1500" dirty="0">
                <a:solidFill>
                  <a:srgbClr val="00A896"/>
                </a:solidFill>
                <a:latin typeface="Calibri" pitchFamily="34" charset="0"/>
                <a:ea typeface="Calibri" pitchFamily="34" charset="-122"/>
                <a:cs typeface="Calibri" pitchFamily="34" charset="-120"/>
              </a:rPr>
              <a:t>MVA Hackathon 2026  ·  Track 2 — Drug Repurposing</a:t>
            </a:r>
            <a:endParaRPr lang="en-US" sz="1500" dirty="0"/>
          </a:p>
        </p:txBody>
      </p:sp>
      <p:sp>
        <p:nvSpPr>
          <p:cNvPr id="8" name="Text 6"/>
          <p:cNvSpPr txBox="1"/>
          <p:nvPr/>
        </p:nvSpPr>
        <p:spPr>
          <a:xfrm>
            <a:off x="731520" y="5989320"/>
            <a:ext cx="10058400" cy="457200"/>
          </a:xfrm>
          <a:prstGeom prst="rect">
            <a:avLst/>
          </a:prstGeom>
          <a:noFill/>
          <a:ln/>
        </p:spPr>
        <p:txBody>
          <a:bodyPr wrap="square" lIns="0" tIns="0" rIns="0" bIns="0" rtlCol="0" anchor="ctr"/>
          <a:lstStyle/>
          <a:p>
            <a:pPr algn="l" indent="0" marL="0">
              <a:buNone/>
            </a:pPr>
            <a:r>
              <a:rPr lang="en-US" sz="1300" i="1" dirty="0">
                <a:solidFill>
                  <a:srgbClr val="4E6367"/>
                </a:solidFill>
                <a:latin typeface="Calibri" pitchFamily="34" charset="0"/>
                <a:ea typeface="Calibri" pitchFamily="34" charset="-122"/>
                <a:cs typeface="Calibri" pitchFamily="34" charset="-120"/>
              </a:rPr>
              <a:t>A real child. A confirmed genetic diagnosis. Two approved medications worth investigating.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3000" b="1" dirty="0">
                <a:solidFill>
                  <a:srgbClr val="1A2B2E"/>
                </a:solidFill>
                <a:latin typeface="Cambria" pitchFamily="34" charset="0"/>
                <a:ea typeface="Cambria" pitchFamily="34" charset="-122"/>
                <a:cs typeface="Cambria" pitchFamily="34" charset="-120"/>
              </a:rPr>
              <a:t>Two Damaged Copies of One Gene</a:t>
            </a:r>
            <a:endParaRPr lang="en-US" sz="3000" dirty="0"/>
          </a:p>
        </p:txBody>
      </p:sp>
      <p:sp>
        <p:nvSpPr>
          <p:cNvPr id="5" name="Text 3"/>
          <p:cNvSpPr txBox="1"/>
          <p:nvPr/>
        </p:nvSpPr>
        <p:spPr>
          <a:xfrm>
            <a:off x="1234440" y="960120"/>
            <a:ext cx="9601200" cy="365760"/>
          </a:xfrm>
          <a:prstGeom prst="rect">
            <a:avLst/>
          </a:prstGeom>
          <a:noFill/>
          <a:ln/>
        </p:spPr>
        <p:txBody>
          <a:bodyPr wrap="square" lIns="0" tIns="0" rIns="0" bIns="0" rtlCol="0" anchor="ctr"/>
          <a:lstStyle/>
          <a:p>
            <a:pPr algn="l" indent="0" marL="0">
              <a:buNone/>
            </a:pPr>
            <a:r>
              <a:rPr lang="en-US" sz="1400" dirty="0">
                <a:solidFill>
                  <a:srgbClr val="4E6367"/>
                </a:solidFill>
                <a:latin typeface="Calibri" pitchFamily="34" charset="0"/>
                <a:ea typeface="Calibri" pitchFamily="34" charset="-122"/>
                <a:cs typeface="Calibri" pitchFamily="34" charset="-120"/>
              </a:rPr>
              <a:t>BUB1B compound heterozygote in the proband (GRCh38)</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 y="1600200"/>
          <a:ext cx="10698480" cy="2377440"/>
        </p:xfrm>
        <a:graphic>
          <a:graphicData uri="http://schemas.openxmlformats.org/drawingml/2006/table">
            <a:tbl>
              <a:tblPr/>
              <a:tblGrid>
                <a:gridCol w="2139696"/>
                <a:gridCol w="2139696"/>
                <a:gridCol w="2139696"/>
                <a:gridCol w="2139696"/>
                <a:gridCol w="2139696"/>
              </a:tblGrid>
              <a:tr h="792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Variant</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Position (GRCh38)</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Consequence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028090"/>
                    </a:solidFill>
                  </a:tcPr>
                </a:tc>
              </a:tr>
              <a:tr h="792480">
                <a:tc>
                  <a:txBody>
                    <a:bodyPr/>
                    <a:lstStyle/>
                    <a:p>
                      <a:pPr indent="0" marL="0">
                        <a:buNone/>
                      </a:pPr>
                      <a:r>
                        <a:rPr lang="en-US" sz="1300" b="1" dirty="0">
                          <a:solidFill>
                            <a:srgbClr val="1A2B2E"/>
                          </a:solidFill>
                          <a:latin typeface="Calibri" pitchFamily="34" charset="0"/>
                          <a:ea typeface="Calibri" pitchFamily="34" charset="-122"/>
                          <a:cs typeface="Calibri" pitchFamily="34" charset="-120"/>
                        </a:rPr>
                        <a:t>Variant 1</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chr15:40,209,701 T&gt;G</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c.2210T&gt;G / p.Leu737Ter</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b="1" dirty="0">
                          <a:solidFill>
                            <a:srgbClr val="B3261E"/>
                          </a:solidFill>
                          <a:latin typeface="Calibri" pitchFamily="34" charset="0"/>
                          <a:ea typeface="Calibri" pitchFamily="34" charset="-122"/>
                          <a:cs typeface="Calibri" pitchFamily="34" charset="-120"/>
                        </a:rPr>
                        <a:t>stop-gained (HIGH)</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ClinVar: Pathogenic</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2F9F8"/>
                    </a:solidFill>
                  </a:tcPr>
                </a:tc>
              </a:tr>
              <a:tr h="792480">
                <a:tc>
                  <a:txBody>
                    <a:bodyPr/>
                    <a:lstStyle/>
                    <a:p>
                      <a:pPr indent="0" marL="0">
                        <a:buNone/>
                      </a:pPr>
                      <a:r>
                        <a:rPr lang="en-US" sz="1300" b="1" dirty="0">
                          <a:solidFill>
                            <a:srgbClr val="1A2B2E"/>
                          </a:solidFill>
                          <a:latin typeface="Calibri" pitchFamily="34" charset="0"/>
                          <a:ea typeface="Calibri" pitchFamily="34" charset="-122"/>
                          <a:cs typeface="Calibri" pitchFamily="34" charset="-120"/>
                        </a:rPr>
                        <a:t>Variant 2</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chr15:40,220,612 T&gt;G</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c.3006T&gt;G / p.Asn1002Lys</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b="1" dirty="0">
                          <a:solidFill>
                            <a:srgbClr val="B36B00"/>
                          </a:solidFill>
                          <a:latin typeface="Calibri" pitchFamily="34" charset="0"/>
                          <a:ea typeface="Calibri" pitchFamily="34" charset="-122"/>
                          <a:cs typeface="Calibri" pitchFamily="34" charset="-120"/>
                        </a:rPr>
                        <a:t>missense (MODERATE)</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c>
                  <a:txBody>
                    <a:bodyPr/>
                    <a:lstStyle/>
                    <a:p>
                      <a:pPr indent="0" marL="0">
                        <a:buNone/>
                      </a:pPr>
                      <a:r>
                        <a:rPr lang="en-US" sz="1300" dirty="0">
                          <a:solidFill>
                            <a:srgbClr val="1A2B2E"/>
                          </a:solidFill>
                          <a:latin typeface="Calibri" pitchFamily="34" charset="0"/>
                          <a:ea typeface="Calibri" pitchFamily="34" charset="-122"/>
                          <a:cs typeface="Calibri" pitchFamily="34" charset="-120"/>
                        </a:rPr>
                        <a:t>SIFT + PolyPhen: deleterious</a:t>
                      </a:r>
                      <a:endParaRPr lang="en-US" sz="1300" dirty="0">
                        <a:latin typeface="Calibri" charset="0"/>
                        <a:ea typeface="Calibri" charset="0"/>
                        <a:cs typeface="Calibri" charset="0"/>
                      </a:endParaRPr>
                    </a:p>
                  </a:txBody>
                  <a:tcPr marL="91440" marR="91440" marT="45720" marB="45720" anchor="ctr">
                    <a:lnL w="12700" cap="flat" cmpd="sng" algn="ctr">
                      <a:solidFill>
                        <a:srgbClr val="D7E7E5"/>
                      </a:solidFill>
                      <a:prstDash val="solid"/>
                      <a:round/>
                      <a:headEnd type="none" w="med" len="med"/>
                      <a:tailEnd type="none" w="med" len="med"/>
                    </a:lnL>
                    <a:lnR w="12700" cap="flat" cmpd="sng" algn="ctr">
                      <a:solidFill>
                        <a:srgbClr val="D7E7E5"/>
                      </a:solidFill>
                      <a:prstDash val="solid"/>
                      <a:round/>
                      <a:headEnd type="none" w="med" len="med"/>
                      <a:tailEnd type="none" w="med" len="med"/>
                    </a:lnR>
                    <a:lnT w="12700" cap="flat" cmpd="sng" algn="ctr">
                      <a:solidFill>
                        <a:srgbClr val="D7E7E5"/>
                      </a:solidFill>
                      <a:prstDash val="solid"/>
                      <a:round/>
                      <a:headEnd type="none" w="med" len="med"/>
                      <a:tailEnd type="none" w="med" len="med"/>
                    </a:lnT>
                    <a:lnB w="12700" cap="flat" cmpd="sng" algn="ctr">
                      <a:solidFill>
                        <a:srgbClr val="D7E7E5"/>
                      </a:solidFill>
                      <a:prstDash val="solid"/>
                      <a:round/>
                      <a:headEnd type="none" w="med" len="med"/>
                      <a:tailEnd type="none" w="med" len="med"/>
                    </a:lnB>
                    <a:solidFill>
                      <a:srgbClr val="FFFFFF"/>
                    </a:solidFill>
                  </a:tcPr>
                </a:tc>
              </a:tr>
            </a:tbl>
          </a:graphicData>
        </a:graphic>
      </p:graphicFrame>
      <p:sp>
        <p:nvSpPr>
          <p:cNvPr id="7" name="Shape 4"/>
          <p:cNvSpPr/>
          <p:nvPr/>
        </p:nvSpPr>
        <p:spPr>
          <a:xfrm>
            <a:off x="731520" y="4343400"/>
            <a:ext cx="10698480" cy="1051560"/>
          </a:xfrm>
          <a:prstGeom prst="roundRect">
            <a:avLst>
              <a:gd name="adj" fmla="val 10435"/>
            </a:avLst>
          </a:prstGeom>
          <a:solidFill>
            <a:srgbClr val="D9F0EE"/>
          </a:solidFill>
          <a:ln/>
        </p:spPr>
      </p:sp>
      <p:sp>
        <p:nvSpPr>
          <p:cNvPr id="8" name="Text 5"/>
          <p:cNvSpPr txBox="1"/>
          <p:nvPr/>
        </p:nvSpPr>
        <p:spPr>
          <a:xfrm>
            <a:off x="1005840" y="4343400"/>
            <a:ext cx="10149840" cy="1051560"/>
          </a:xfrm>
          <a:prstGeom prst="rect">
            <a:avLst/>
          </a:prstGeom>
          <a:noFill/>
          <a:ln/>
        </p:spPr>
        <p:txBody>
          <a:bodyPr wrap="square" lIns="0" tIns="0" rIns="0" bIns="0" rtlCol="0" anchor="ctr"/>
          <a:lstStyle/>
          <a:p>
            <a:pPr algn="l" indent="0" marL="0">
              <a:buNone/>
            </a:pPr>
            <a:r>
              <a:rPr lang="en-US" sz="1500" b="1" dirty="0">
                <a:solidFill>
                  <a:srgbClr val="028090"/>
                </a:solidFill>
                <a:latin typeface="Calibri" pitchFamily="34" charset="0"/>
                <a:ea typeface="Calibri" pitchFamily="34" charset="-122"/>
                <a:cs typeface="Calibri" pitchFamily="34" charset="-120"/>
              </a:rPr>
              <a:t>Genotype: 0/1 + 0/1  →  </a:t>
            </a:r>
            <a:pPr algn="l" indent="0" marL="0">
              <a:buNone/>
            </a:pPr>
            <a:r>
              <a:rPr lang="en-US" sz="1500" dirty="0">
                <a:solidFill>
                  <a:srgbClr val="1A2B2E"/>
                </a:solidFill>
                <a:latin typeface="Calibri" pitchFamily="34" charset="0"/>
                <a:ea typeface="Calibri" pitchFamily="34" charset="-122"/>
                <a:cs typeface="Calibri" pitchFamily="34" charset="-120"/>
              </a:rPr>
              <a:t>compound heterozygote in trans (assumed; singleton WGS, no parental phasing)</a:t>
            </a:r>
            <a:endParaRPr lang="en-US" sz="1500" dirty="0"/>
          </a:p>
        </p:txBody>
      </p:sp>
      <p:sp>
        <p:nvSpPr>
          <p:cNvPr id="9" name="Text 6"/>
          <p:cNvSpPr txBox="1"/>
          <p:nvPr/>
        </p:nvSpPr>
        <p:spPr>
          <a:xfrm>
            <a:off x="731520" y="5623560"/>
            <a:ext cx="10698480" cy="457200"/>
          </a:xfrm>
          <a:prstGeom prst="rect">
            <a:avLst/>
          </a:prstGeom>
          <a:noFill/>
          <a:ln/>
        </p:spPr>
        <p:txBody>
          <a:bodyPr wrap="square" lIns="0" tIns="0" rIns="0" bIns="0" rtlCol="0" anchor="ctr"/>
          <a:lstStyle/>
          <a:p>
            <a:pPr algn="l" indent="0" marL="0">
              <a:buNone/>
            </a:pPr>
            <a:r>
              <a:rPr lang="en-US" sz="1300" i="1" dirty="0">
                <a:solidFill>
                  <a:srgbClr val="4E6367"/>
                </a:solidFill>
                <a:latin typeface="Calibri" pitchFamily="34" charset="0"/>
                <a:ea typeface="Calibri" pitchFamily="34" charset="-122"/>
                <a:cs typeface="Calibri" pitchFamily="34" charset="-120"/>
              </a:rPr>
              <a:t>BUB1B encodes BUBR1 — a core kinase of the mitotic spindle-assembly checkpoint (SAC)</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2800" b="1" dirty="0">
                <a:solidFill>
                  <a:srgbClr val="1A2B2E"/>
                </a:solidFill>
                <a:latin typeface="Cambria" pitchFamily="34" charset="0"/>
                <a:ea typeface="Cambria" pitchFamily="34" charset="-122"/>
                <a:cs typeface="Cambria" pitchFamily="34" charset="-120"/>
              </a:rPr>
              <a:t>How One Broken Checkpoint Causes Cancer</a:t>
            </a:r>
            <a:endParaRPr lang="en-US" sz="2800" dirty="0"/>
          </a:p>
        </p:txBody>
      </p:sp>
      <p:sp>
        <p:nvSpPr>
          <p:cNvPr id="5" name="Shape 3"/>
          <p:cNvSpPr/>
          <p:nvPr/>
        </p:nvSpPr>
        <p:spPr>
          <a:xfrm>
            <a:off x="731520" y="1325880"/>
            <a:ext cx="365760" cy="365760"/>
          </a:xfrm>
          <a:prstGeom prst="ellipse">
            <a:avLst/>
          </a:prstGeom>
          <a:solidFill>
            <a:srgbClr val="00A896"/>
          </a:solidFill>
          <a:ln/>
        </p:spPr>
      </p:sp>
      <p:sp>
        <p:nvSpPr>
          <p:cNvPr id="6" name="Text 4"/>
          <p:cNvSpPr txBox="1"/>
          <p:nvPr/>
        </p:nvSpPr>
        <p:spPr>
          <a:xfrm>
            <a:off x="731520" y="13258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34440" y="1252728"/>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BUB1B compound-het loss-of-function</a:t>
            </a:r>
            <a:endParaRPr lang="en-US" sz="1400" dirty="0"/>
          </a:p>
        </p:txBody>
      </p:sp>
      <p:sp>
        <p:nvSpPr>
          <p:cNvPr id="8" name="Text 6"/>
          <p:cNvSpPr txBox="1"/>
          <p:nvPr/>
        </p:nvSpPr>
        <p:spPr>
          <a:xfrm>
            <a:off x="886968" y="1673352"/>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731520" y="1984248"/>
            <a:ext cx="365760" cy="365760"/>
          </a:xfrm>
          <a:prstGeom prst="ellipse">
            <a:avLst/>
          </a:prstGeom>
          <a:solidFill>
            <a:srgbClr val="00A896"/>
          </a:solidFill>
          <a:ln/>
        </p:spPr>
      </p:sp>
      <p:sp>
        <p:nvSpPr>
          <p:cNvPr id="10" name="Text 8"/>
          <p:cNvSpPr txBox="1"/>
          <p:nvPr/>
        </p:nvSpPr>
        <p:spPr>
          <a:xfrm>
            <a:off x="731520" y="19842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234440" y="1911096"/>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Reduced BUBR1 dosage at the kinetochore</a:t>
            </a:r>
            <a:endParaRPr lang="en-US" sz="1400" dirty="0"/>
          </a:p>
        </p:txBody>
      </p:sp>
      <p:sp>
        <p:nvSpPr>
          <p:cNvPr id="12" name="Text 10"/>
          <p:cNvSpPr txBox="1"/>
          <p:nvPr/>
        </p:nvSpPr>
        <p:spPr>
          <a:xfrm>
            <a:off x="886968" y="2331720"/>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731520" y="2642616"/>
            <a:ext cx="365760" cy="365760"/>
          </a:xfrm>
          <a:prstGeom prst="ellipse">
            <a:avLst/>
          </a:prstGeom>
          <a:solidFill>
            <a:srgbClr val="00A896"/>
          </a:solidFill>
          <a:ln/>
        </p:spPr>
      </p:sp>
      <p:sp>
        <p:nvSpPr>
          <p:cNvPr id="14" name="Text 12"/>
          <p:cNvSpPr txBox="1"/>
          <p:nvPr/>
        </p:nvSpPr>
        <p:spPr>
          <a:xfrm>
            <a:off x="731520" y="26426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234440" y="2569464"/>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Weakened spindle-assembly checkpoint (SAC)</a:t>
            </a:r>
            <a:endParaRPr lang="en-US" sz="1400" dirty="0"/>
          </a:p>
        </p:txBody>
      </p:sp>
      <p:sp>
        <p:nvSpPr>
          <p:cNvPr id="16" name="Text 14"/>
          <p:cNvSpPr txBox="1"/>
          <p:nvPr/>
        </p:nvSpPr>
        <p:spPr>
          <a:xfrm>
            <a:off x="886968" y="2990088"/>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731520" y="3300984"/>
            <a:ext cx="365760" cy="365760"/>
          </a:xfrm>
          <a:prstGeom prst="ellipse">
            <a:avLst/>
          </a:prstGeom>
          <a:solidFill>
            <a:srgbClr val="00A896"/>
          </a:solidFill>
          <a:ln/>
        </p:spPr>
      </p:sp>
      <p:sp>
        <p:nvSpPr>
          <p:cNvPr id="18" name="Text 16"/>
          <p:cNvSpPr txBox="1"/>
          <p:nvPr/>
        </p:nvSpPr>
        <p:spPr>
          <a:xfrm>
            <a:off x="731520" y="330098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234440" y="3227832"/>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Premature chromatid separation</a:t>
            </a:r>
            <a:endParaRPr lang="en-US" sz="1400" dirty="0"/>
          </a:p>
        </p:txBody>
      </p:sp>
      <p:sp>
        <p:nvSpPr>
          <p:cNvPr id="20" name="Text 18"/>
          <p:cNvSpPr txBox="1"/>
          <p:nvPr/>
        </p:nvSpPr>
        <p:spPr>
          <a:xfrm>
            <a:off x="886968" y="3648456"/>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731520" y="3959352"/>
            <a:ext cx="365760" cy="365760"/>
          </a:xfrm>
          <a:prstGeom prst="ellipse">
            <a:avLst/>
          </a:prstGeom>
          <a:solidFill>
            <a:srgbClr val="00A896"/>
          </a:solidFill>
          <a:ln/>
        </p:spPr>
      </p:sp>
      <p:sp>
        <p:nvSpPr>
          <p:cNvPr id="22" name="Text 20"/>
          <p:cNvSpPr txBox="1"/>
          <p:nvPr/>
        </p:nvSpPr>
        <p:spPr>
          <a:xfrm>
            <a:off x="731520" y="39593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1234440" y="3886200"/>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Chromosome mis-segregation → mosaic aneuploidy</a:t>
            </a:r>
            <a:endParaRPr lang="en-US" sz="1400" dirty="0"/>
          </a:p>
        </p:txBody>
      </p:sp>
      <p:sp>
        <p:nvSpPr>
          <p:cNvPr id="24" name="Text 22"/>
          <p:cNvSpPr txBox="1"/>
          <p:nvPr/>
        </p:nvSpPr>
        <p:spPr>
          <a:xfrm>
            <a:off x="886968" y="4306824"/>
            <a:ext cx="274320" cy="274320"/>
          </a:xfrm>
          <a:prstGeom prst="rect">
            <a:avLst/>
          </a:prstGeom>
          <a:noFill/>
          <a:ln/>
        </p:spPr>
        <p:txBody>
          <a:bodyPr wrap="square" lIns="0" tIns="0" rIns="0" bIns="0" rtlCol="0" anchor="ctr"/>
          <a:lstStyle/>
          <a:p>
            <a:pPr algn="ctr" indent="0" marL="0">
              <a:buNone/>
            </a:pPr>
            <a:r>
              <a:rPr lang="en-US" sz="1400" dirty="0">
                <a:solidFill>
                  <a:srgbClr val="4E6367"/>
                </a:solidFill>
                <a:latin typeface="Calibri" pitchFamily="34" charset="0"/>
                <a:ea typeface="Calibri" pitchFamily="34" charset="-122"/>
                <a:cs typeface="Calibri" pitchFamily="34" charset="-120"/>
              </a:rPr>
              <a:t>↓</a:t>
            </a:r>
            <a:endParaRPr lang="en-US" sz="1400" dirty="0"/>
          </a:p>
        </p:txBody>
      </p:sp>
      <p:sp>
        <p:nvSpPr>
          <p:cNvPr id="25" name="Shape 23"/>
          <p:cNvSpPr/>
          <p:nvPr/>
        </p:nvSpPr>
        <p:spPr>
          <a:xfrm>
            <a:off x="731520" y="4617720"/>
            <a:ext cx="365760" cy="365760"/>
          </a:xfrm>
          <a:prstGeom prst="ellipse">
            <a:avLst/>
          </a:prstGeom>
          <a:solidFill>
            <a:srgbClr val="B3261E"/>
          </a:solidFill>
          <a:ln/>
        </p:spPr>
      </p:sp>
      <p:sp>
        <p:nvSpPr>
          <p:cNvPr id="26" name="Text 24"/>
          <p:cNvSpPr txBox="1"/>
          <p:nvPr/>
        </p:nvSpPr>
        <p:spPr>
          <a:xfrm>
            <a:off x="731520" y="46177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txBox="1"/>
          <p:nvPr/>
        </p:nvSpPr>
        <p:spPr>
          <a:xfrm>
            <a:off x="1234440" y="4544568"/>
            <a:ext cx="5074920" cy="512064"/>
          </a:xfrm>
          <a:prstGeom prst="rect">
            <a:avLst/>
          </a:prstGeom>
          <a:noFill/>
          <a:ln/>
        </p:spPr>
        <p:txBody>
          <a:bodyPr wrap="square" lIns="0" tIns="0" rIns="0" bIns="0" rtlCol="0" anchor="ctr"/>
          <a:lstStyle/>
          <a:p>
            <a:pPr algn="l" indent="0" marL="0">
              <a:buNone/>
            </a:pPr>
            <a:r>
              <a:rPr lang="en-US" sz="1400" dirty="0">
                <a:solidFill>
                  <a:srgbClr val="1A2B2E"/>
                </a:solidFill>
                <a:latin typeface="Calibri" pitchFamily="34" charset="0"/>
                <a:ea typeface="Calibri" pitchFamily="34" charset="-122"/>
                <a:cs typeface="Calibri" pitchFamily="34" charset="-120"/>
              </a:rPr>
              <a:t>Chromosomal instability → childhood cancer risk</a:t>
            </a:r>
            <a:endParaRPr lang="en-US" sz="1400" dirty="0"/>
          </a:p>
        </p:txBody>
      </p:sp>
      <p:pic>
        <p:nvPicPr>
          <p:cNvPr id="28" name="Image 0" descr="E:/2026 Escritorio/Hackaton 2025/Track 2/figures/bubr1_variants_structure.png">    </p:cNvPr>
          <p:cNvPicPr>
            <a:picLocks noChangeAspect="1"/>
          </p:cNvPicPr>
          <p:nvPr/>
        </p:nvPicPr>
        <p:blipFill>
          <a:blip r:embed="rId1"/>
          <a:stretch>
            <a:fillRect/>
          </a:stretch>
        </p:blipFill>
        <p:spPr>
          <a:xfrm>
            <a:off x="6675120" y="1234440"/>
            <a:ext cx="4937760" cy="4023360"/>
          </a:xfrm>
          <a:prstGeom prst="rect">
            <a:avLst/>
          </a:prstGeom>
        </p:spPr>
      </p:pic>
      <p:sp>
        <p:nvSpPr>
          <p:cNvPr id="29" name="Text 26"/>
          <p:cNvSpPr txBox="1"/>
          <p:nvPr/>
        </p:nvSpPr>
        <p:spPr>
          <a:xfrm>
            <a:off x="6675120" y="5303520"/>
            <a:ext cx="4937760" cy="548640"/>
          </a:xfrm>
          <a:prstGeom prst="rect">
            <a:avLst/>
          </a:prstGeom>
          <a:noFill/>
          <a:ln/>
        </p:spPr>
        <p:txBody>
          <a:bodyPr wrap="square" lIns="0" tIns="0" rIns="0" bIns="0" rtlCol="0" anchor="ctr"/>
          <a:lstStyle/>
          <a:p>
            <a:pPr algn="l" indent="0" marL="0">
              <a:buNone/>
            </a:pPr>
            <a:r>
              <a:rPr lang="en-US" sz="1050" i="1" dirty="0">
                <a:solidFill>
                  <a:srgbClr val="4E6367"/>
                </a:solidFill>
                <a:latin typeface="Calibri" pitchFamily="34" charset="0"/>
                <a:ea typeface="Calibri" pitchFamily="34" charset="-122"/>
                <a:cs typeface="Calibri" pitchFamily="34" charset="-120"/>
              </a:rPr>
              <a:t>AlphaFold model of BUBR1 — both variants (red) sit in confidently-predicted</a:t>
            </a:r>
            <a:endParaRPr lang="en-US" sz="1050" dirty="0"/>
          </a:p>
          <a:p>
            <a:pPr algn="l" indent="0" marL="0">
              <a:buNone/>
            </a:pPr>
            <a:r>
              <a:rPr lang="en-US" sz="1050" i="1" dirty="0">
                <a:solidFill>
                  <a:srgbClr val="4E6367"/>
                </a:solidFill>
                <a:latin typeface="Calibri" pitchFamily="34" charset="0"/>
                <a:ea typeface="Calibri" pitchFamily="34" charset="-122"/>
                <a:cs typeface="Calibri" pitchFamily="34" charset="-120"/>
              </a:rPr>
              <a:t>regions of the C-terminal pseudokinase domain</a:t>
            </a:r>
            <a:endParaRPr lang="en-US" sz="1050" dirty="0"/>
          </a:p>
        </p:txBody>
      </p:sp>
      <p:sp>
        <p:nvSpPr>
          <p:cNvPr id="30" name="Shape 27"/>
          <p:cNvSpPr/>
          <p:nvPr/>
        </p:nvSpPr>
        <p:spPr>
          <a:xfrm>
            <a:off x="731520" y="5897880"/>
            <a:ext cx="5577840" cy="685800"/>
          </a:xfrm>
          <a:prstGeom prst="roundRect">
            <a:avLst>
              <a:gd name="adj" fmla="val 13333"/>
            </a:avLst>
          </a:prstGeom>
          <a:solidFill>
            <a:srgbClr val="F2F9F8"/>
          </a:solidFill>
          <a:ln/>
        </p:spPr>
      </p:sp>
      <p:sp>
        <p:nvSpPr>
          <p:cNvPr id="31" name="Text 28"/>
          <p:cNvSpPr txBox="1"/>
          <p:nvPr/>
        </p:nvSpPr>
        <p:spPr>
          <a:xfrm>
            <a:off x="914400" y="5897880"/>
            <a:ext cx="5212080" cy="685800"/>
          </a:xfrm>
          <a:prstGeom prst="rect">
            <a:avLst/>
          </a:prstGeom>
          <a:noFill/>
          <a:ln/>
        </p:spPr>
        <p:txBody>
          <a:bodyPr wrap="square" lIns="0" tIns="0" rIns="0" bIns="0" rtlCol="0" anchor="ctr"/>
          <a:lstStyle/>
          <a:p>
            <a:pPr algn="l" indent="0" marL="0">
              <a:buNone/>
            </a:pPr>
            <a:r>
              <a:rPr lang="en-US" sz="1150" dirty="0">
                <a:solidFill>
                  <a:srgbClr val="1A2B2E"/>
                </a:solidFill>
                <a:latin typeface="Calibri" pitchFamily="34" charset="0"/>
                <a:ea typeface="Calibri" pitchFamily="34" charset="-122"/>
                <a:cs typeface="Calibri" pitchFamily="34" charset="-120"/>
              </a:rPr>
              <a:t>Independently confirmed via STRING + Reactome: BUB1B sits at the center of exactly this checkpoint module.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4" name="Text 2"/>
          <p:cNvSpPr txBox="1"/>
          <p:nvPr/>
        </p:nvSpPr>
        <p:spPr>
          <a:xfrm>
            <a:off x="1234440" y="365760"/>
            <a:ext cx="9601200" cy="548640"/>
          </a:xfrm>
          <a:prstGeom prst="rect">
            <a:avLst/>
          </a:prstGeom>
          <a:noFill/>
          <a:ln/>
        </p:spPr>
        <p:txBody>
          <a:bodyPr wrap="square" lIns="0" tIns="0" rIns="0" bIns="0" rtlCol="0" anchor="ctr"/>
          <a:lstStyle/>
          <a:p>
            <a:pPr algn="l" indent="0" marL="0">
              <a:buNone/>
            </a:pPr>
            <a:r>
              <a:rPr lang="en-US" sz="2800" b="1" dirty="0">
                <a:solidFill>
                  <a:srgbClr val="1A2B2E"/>
                </a:solidFill>
                <a:latin typeface="Cambria" pitchFamily="34" charset="0"/>
                <a:ea typeface="Cambria" pitchFamily="34" charset="-122"/>
                <a:cs typeface="Cambria" pitchFamily="34" charset="-120"/>
              </a:rPr>
              <a:t>Two Approved Drugs, One Rationale</a:t>
            </a:r>
            <a:endParaRPr lang="en-US" sz="2800" dirty="0"/>
          </a:p>
        </p:txBody>
      </p:sp>
      <p:sp>
        <p:nvSpPr>
          <p:cNvPr id="5" name="Text 3"/>
          <p:cNvSpPr txBox="1"/>
          <p:nvPr/>
        </p:nvSpPr>
        <p:spPr>
          <a:xfrm>
            <a:off x="1234440" y="896112"/>
            <a:ext cx="9601200" cy="365760"/>
          </a:xfrm>
          <a:prstGeom prst="rect">
            <a:avLst/>
          </a:prstGeom>
          <a:noFill/>
          <a:ln/>
        </p:spPr>
        <p:txBody>
          <a:bodyPr wrap="square" lIns="0" tIns="0" rIns="0" bIns="0" rtlCol="0" anchor="ctr"/>
          <a:lstStyle/>
          <a:p>
            <a:pPr algn="l" indent="0" marL="0">
              <a:buNone/>
            </a:pPr>
            <a:r>
              <a:rPr lang="en-US" sz="1400" dirty="0">
                <a:solidFill>
                  <a:srgbClr val="4E6367"/>
                </a:solidFill>
                <a:latin typeface="Calibri" pitchFamily="34" charset="0"/>
                <a:ea typeface="Calibri" pitchFamily="34" charset="-122"/>
                <a:cs typeface="Calibri" pitchFamily="34" charset="-120"/>
              </a:rPr>
              <a:t>Exploit the checkpoint weakness — don't deepen it</a:t>
            </a:r>
            <a:endParaRPr lang="en-US" sz="1400" dirty="0"/>
          </a:p>
        </p:txBody>
      </p:sp>
      <p:sp>
        <p:nvSpPr>
          <p:cNvPr id="6" name="Shape 4"/>
          <p:cNvSpPr/>
          <p:nvPr/>
        </p:nvSpPr>
        <p:spPr>
          <a:xfrm>
            <a:off x="731520" y="1508760"/>
            <a:ext cx="5212080" cy="3657600"/>
          </a:xfrm>
          <a:prstGeom prst="roundRect">
            <a:avLst>
              <a:gd name="adj" fmla="val 3000"/>
            </a:avLst>
          </a:prstGeom>
          <a:solidFill>
            <a:srgbClr val="F2F9F8"/>
          </a:solidFill>
          <a:ln/>
          <a:effectLst>
            <a:outerShdw sx="100000" sy="100000" kx="0" ky="0" algn="bl" rotWithShape="0" blurRad="76200" dist="25400" dir="5400000">
              <a:srgbClr val="9CB8B5">
                <a:alpha val="35000"/>
              </a:srgbClr>
            </a:outerShdw>
          </a:effectLst>
        </p:spPr>
      </p:sp>
      <p:sp>
        <p:nvSpPr>
          <p:cNvPr id="7" name="Text 5"/>
          <p:cNvSpPr txBox="1"/>
          <p:nvPr/>
        </p:nvSpPr>
        <p:spPr>
          <a:xfrm>
            <a:off x="1051560" y="1737360"/>
            <a:ext cx="4572000" cy="502920"/>
          </a:xfrm>
          <a:prstGeom prst="rect">
            <a:avLst/>
          </a:prstGeom>
          <a:noFill/>
          <a:ln/>
        </p:spPr>
        <p:txBody>
          <a:bodyPr wrap="square" lIns="0" tIns="0" rIns="0" bIns="0" rtlCol="0" anchor="ctr"/>
          <a:lstStyle/>
          <a:p>
            <a:pPr algn="l" indent="0" marL="0">
              <a:buNone/>
            </a:pPr>
            <a:r>
              <a:rPr lang="en-US" sz="2200" b="1" dirty="0">
                <a:solidFill>
                  <a:srgbClr val="028090"/>
                </a:solidFill>
                <a:latin typeface="Cambria" pitchFamily="34" charset="0"/>
                <a:ea typeface="Cambria" pitchFamily="34" charset="-122"/>
                <a:cs typeface="Cambria" pitchFamily="34" charset="-120"/>
              </a:rPr>
              <a:t>Bosutinib</a:t>
            </a:r>
            <a:endParaRPr lang="en-US" sz="2200" dirty="0"/>
          </a:p>
        </p:txBody>
      </p:sp>
      <p:sp>
        <p:nvSpPr>
          <p:cNvPr id="8" name="Text 6"/>
          <p:cNvSpPr txBox="1"/>
          <p:nvPr/>
        </p:nvSpPr>
        <p:spPr>
          <a:xfrm>
            <a:off x="1051560" y="2240280"/>
            <a:ext cx="4572000" cy="502920"/>
          </a:xfrm>
          <a:prstGeom prst="rect">
            <a:avLst/>
          </a:prstGeom>
          <a:noFill/>
          <a:ln/>
        </p:spPr>
        <p:txBody>
          <a:bodyPr wrap="square" lIns="0" tIns="0" rIns="0" bIns="0" rtlCol="0" anchor="t"/>
          <a:lstStyle/>
          <a:p>
            <a:pPr algn="l" indent="0" marL="0">
              <a:buNone/>
            </a:pPr>
            <a:r>
              <a:rPr lang="en-US" sz="1150" b="1" dirty="0">
                <a:solidFill>
                  <a:srgbClr val="00A896"/>
                </a:solidFill>
                <a:latin typeface="Calibri" pitchFamily="34" charset="0"/>
                <a:ea typeface="Calibri" pitchFamily="34" charset="-122"/>
                <a:cs typeface="Calibri" pitchFamily="34" charset="-120"/>
              </a:rPr>
              <a:t>FDA-approved 2012 • chronic myeloid leukemia</a:t>
            </a:r>
            <a:endParaRPr lang="en-US" sz="1150" dirty="0"/>
          </a:p>
        </p:txBody>
      </p:sp>
      <p:sp>
        <p:nvSpPr>
          <p:cNvPr id="9" name="Text 7"/>
          <p:cNvSpPr txBox="1"/>
          <p:nvPr/>
        </p:nvSpPr>
        <p:spPr>
          <a:xfrm>
            <a:off x="1051560" y="2880360"/>
            <a:ext cx="4572000" cy="1234440"/>
          </a:xfrm>
          <a:prstGeom prst="rect">
            <a:avLst/>
          </a:prstGeom>
          <a:noFill/>
          <a:ln/>
        </p:spPr>
        <p:txBody>
          <a:bodyPr wrap="square" lIns="0" tIns="0" rIns="0" bIns="0" rtlCol="0" anchor="t"/>
          <a:lstStyle/>
          <a:p>
            <a:pPr algn="l" indent="0" marL="0">
              <a:buNone/>
            </a:pPr>
            <a:r>
              <a:rPr lang="en-US" sz="1300" b="1" dirty="0">
                <a:solidFill>
                  <a:srgbClr val="1A2B2E"/>
                </a:solidFill>
                <a:latin typeface="Calibri" pitchFamily="34" charset="0"/>
                <a:ea typeface="Calibri" pitchFamily="34" charset="-122"/>
                <a:cs typeface="Calibri" pitchFamily="34" charset="-120"/>
              </a:rPr>
              <a:t>Mechanism: </a:t>
            </a:r>
            <a:pPr algn="l" indent="0" marL="0">
              <a:buNone/>
            </a:pPr>
            <a:r>
              <a:rPr lang="en-US" sz="1300" dirty="0">
                <a:solidFill>
                  <a:srgbClr val="1A2B2E"/>
                </a:solidFill>
                <a:latin typeface="Calibri" pitchFamily="34" charset="0"/>
                <a:ea typeface="Calibri" pitchFamily="34" charset="-122"/>
                <a:cs typeface="Calibri" pitchFamily="34" charset="-120"/>
              </a:rPr>
              <a:t>Src-kinase inhibitor. Selectively toxic to cells with a defective spindle-assembly checkpoint.</a:t>
            </a:r>
            <a:endParaRPr lang="en-US" sz="1300" dirty="0"/>
          </a:p>
        </p:txBody>
      </p:sp>
      <p:sp>
        <p:nvSpPr>
          <p:cNvPr id="10" name="Text 8"/>
          <p:cNvSpPr txBox="1"/>
          <p:nvPr/>
        </p:nvSpPr>
        <p:spPr>
          <a:xfrm>
            <a:off x="1051560" y="4297680"/>
            <a:ext cx="4572000" cy="731520"/>
          </a:xfrm>
          <a:prstGeom prst="rect">
            <a:avLst/>
          </a:prstGeom>
          <a:noFill/>
          <a:ln/>
        </p:spPr>
        <p:txBody>
          <a:bodyPr wrap="square" lIns="0" tIns="0" rIns="0" bIns="0" rtlCol="0" anchor="t"/>
          <a:lstStyle/>
          <a:p>
            <a:pPr algn="l" indent="0" marL="0">
              <a:buNone/>
            </a:pPr>
            <a:r>
              <a:rPr lang="en-US" sz="1100" i="1" dirty="0">
                <a:solidFill>
                  <a:srgbClr val="4E6367"/>
                </a:solidFill>
                <a:latin typeface="Calibri" pitchFamily="34" charset="0"/>
                <a:ea typeface="Calibri" pitchFamily="34" charset="-122"/>
                <a:cs typeface="Calibri" pitchFamily="34" charset="-120"/>
              </a:rPr>
              <a:t>Schukken et al. 2020, Life Sci Alliance</a:t>
            </a:r>
            <a:endParaRPr lang="en-US" sz="1100" dirty="0"/>
          </a:p>
        </p:txBody>
      </p:sp>
      <p:sp>
        <p:nvSpPr>
          <p:cNvPr id="11" name="Shape 9"/>
          <p:cNvSpPr/>
          <p:nvPr/>
        </p:nvSpPr>
        <p:spPr>
          <a:xfrm>
            <a:off x="6217920" y="1508760"/>
            <a:ext cx="5212080" cy="3657600"/>
          </a:xfrm>
          <a:prstGeom prst="roundRect">
            <a:avLst>
              <a:gd name="adj" fmla="val 3000"/>
            </a:avLst>
          </a:prstGeom>
          <a:solidFill>
            <a:srgbClr val="F2F9F8"/>
          </a:solidFill>
          <a:ln/>
          <a:effectLst>
            <a:outerShdw sx="100000" sy="100000" kx="0" ky="0" algn="bl" rotWithShape="0" blurRad="76200" dist="25400" dir="5400000">
              <a:srgbClr val="9CB8B5">
                <a:alpha val="35000"/>
              </a:srgbClr>
            </a:outerShdw>
          </a:effectLst>
        </p:spPr>
      </p:sp>
      <p:sp>
        <p:nvSpPr>
          <p:cNvPr id="12" name="Text 10"/>
          <p:cNvSpPr txBox="1"/>
          <p:nvPr/>
        </p:nvSpPr>
        <p:spPr>
          <a:xfrm>
            <a:off x="6537960" y="1737360"/>
            <a:ext cx="4572000" cy="502920"/>
          </a:xfrm>
          <a:prstGeom prst="rect">
            <a:avLst/>
          </a:prstGeom>
          <a:noFill/>
          <a:ln/>
        </p:spPr>
        <p:txBody>
          <a:bodyPr wrap="square" lIns="0" tIns="0" rIns="0" bIns="0" rtlCol="0" anchor="ctr"/>
          <a:lstStyle/>
          <a:p>
            <a:pPr algn="l" indent="0" marL="0">
              <a:buNone/>
            </a:pPr>
            <a:r>
              <a:rPr lang="en-US" sz="2200" b="1" dirty="0">
                <a:solidFill>
                  <a:srgbClr val="028090"/>
                </a:solidFill>
                <a:latin typeface="Cambria" pitchFamily="34" charset="0"/>
                <a:ea typeface="Cambria" pitchFamily="34" charset="-122"/>
                <a:cs typeface="Cambria" pitchFamily="34" charset="-120"/>
              </a:rPr>
              <a:t>Metformin</a:t>
            </a:r>
            <a:endParaRPr lang="en-US" sz="2200" dirty="0"/>
          </a:p>
        </p:txBody>
      </p:sp>
      <p:sp>
        <p:nvSpPr>
          <p:cNvPr id="13" name="Text 11"/>
          <p:cNvSpPr txBox="1"/>
          <p:nvPr/>
        </p:nvSpPr>
        <p:spPr>
          <a:xfrm>
            <a:off x="6537960" y="2240280"/>
            <a:ext cx="4572000" cy="502920"/>
          </a:xfrm>
          <a:prstGeom prst="rect">
            <a:avLst/>
          </a:prstGeom>
          <a:noFill/>
          <a:ln/>
        </p:spPr>
        <p:txBody>
          <a:bodyPr wrap="square" lIns="0" tIns="0" rIns="0" bIns="0" rtlCol="0" anchor="t"/>
          <a:lstStyle/>
          <a:p>
            <a:pPr algn="l" indent="0" marL="0">
              <a:buNone/>
            </a:pPr>
            <a:r>
              <a:rPr lang="en-US" sz="1150" b="1" dirty="0">
                <a:solidFill>
                  <a:srgbClr val="00A896"/>
                </a:solidFill>
                <a:latin typeface="Calibri" pitchFamily="34" charset="0"/>
                <a:ea typeface="Calibri" pitchFamily="34" charset="-122"/>
                <a:cs typeface="Calibri" pitchFamily="34" charset="-120"/>
              </a:rPr>
              <a:t>FDA-approved 1995 • type 2 diabetes</a:t>
            </a:r>
            <a:endParaRPr lang="en-US" sz="1150" dirty="0"/>
          </a:p>
        </p:txBody>
      </p:sp>
      <p:sp>
        <p:nvSpPr>
          <p:cNvPr id="14" name="Text 12"/>
          <p:cNvSpPr txBox="1"/>
          <p:nvPr/>
        </p:nvSpPr>
        <p:spPr>
          <a:xfrm>
            <a:off x="6537960" y="2880360"/>
            <a:ext cx="4572000" cy="1234440"/>
          </a:xfrm>
          <a:prstGeom prst="rect">
            <a:avLst/>
          </a:prstGeom>
          <a:noFill/>
          <a:ln/>
        </p:spPr>
        <p:txBody>
          <a:bodyPr wrap="square" lIns="0" tIns="0" rIns="0" bIns="0" rtlCol="0" anchor="t"/>
          <a:lstStyle/>
          <a:p>
            <a:pPr algn="l" indent="0" marL="0">
              <a:buNone/>
            </a:pPr>
            <a:r>
              <a:rPr lang="en-US" sz="1300" b="1" dirty="0">
                <a:solidFill>
                  <a:srgbClr val="1A2B2E"/>
                </a:solidFill>
                <a:latin typeface="Calibri" pitchFamily="34" charset="0"/>
                <a:ea typeface="Calibri" pitchFamily="34" charset="-122"/>
                <a:cs typeface="Calibri" pitchFamily="34" charset="-120"/>
              </a:rPr>
              <a:t>Mechanism: </a:t>
            </a:r>
            <a:pPr algn="l" indent="0" marL="0">
              <a:buNone/>
            </a:pPr>
            <a:r>
              <a:rPr lang="en-US" sz="1300" dirty="0">
                <a:solidFill>
                  <a:srgbClr val="1A2B2E"/>
                </a:solidFill>
                <a:latin typeface="Calibri" pitchFamily="34" charset="0"/>
                <a:ea typeface="Calibri" pitchFamily="34" charset="-122"/>
                <a:cs typeface="Calibri" pitchFamily="34" charset="-120"/>
              </a:rPr>
              <a:t>AMPK activator. Selectively stresses aneuploid cells through energy/proteotoxic stress.</a:t>
            </a:r>
            <a:endParaRPr lang="en-US" sz="1300" dirty="0"/>
          </a:p>
        </p:txBody>
      </p:sp>
      <p:sp>
        <p:nvSpPr>
          <p:cNvPr id="15" name="Text 13"/>
          <p:cNvSpPr txBox="1"/>
          <p:nvPr/>
        </p:nvSpPr>
        <p:spPr>
          <a:xfrm>
            <a:off x="6537960" y="4297680"/>
            <a:ext cx="4572000" cy="731520"/>
          </a:xfrm>
          <a:prstGeom prst="rect">
            <a:avLst/>
          </a:prstGeom>
          <a:noFill/>
          <a:ln/>
        </p:spPr>
        <p:txBody>
          <a:bodyPr wrap="square" lIns="0" tIns="0" rIns="0" bIns="0" rtlCol="0" anchor="t"/>
          <a:lstStyle/>
          <a:p>
            <a:pPr algn="l" indent="0" marL="0">
              <a:buNone/>
            </a:pPr>
            <a:r>
              <a:rPr lang="en-US" sz="1100" i="1" dirty="0">
                <a:solidFill>
                  <a:srgbClr val="4E6367"/>
                </a:solidFill>
                <a:latin typeface="Calibri" pitchFamily="34" charset="0"/>
                <a:ea typeface="Calibri" pitchFamily="34" charset="-122"/>
                <a:cs typeface="Calibri" pitchFamily="34" charset="-120"/>
              </a:rPr>
              <a:t>Tang et al. 2011, Cell</a:t>
            </a:r>
            <a:endParaRPr lang="en-US" sz="1100" dirty="0"/>
          </a:p>
        </p:txBody>
      </p:sp>
      <p:sp>
        <p:nvSpPr>
          <p:cNvPr id="16" name="Shape 14"/>
          <p:cNvSpPr/>
          <p:nvPr/>
        </p:nvSpPr>
        <p:spPr>
          <a:xfrm>
            <a:off x="731520" y="5440680"/>
            <a:ext cx="10698480" cy="960120"/>
          </a:xfrm>
          <a:prstGeom prst="roundRect">
            <a:avLst>
              <a:gd name="adj" fmla="val 9524"/>
            </a:avLst>
          </a:prstGeom>
          <a:solidFill>
            <a:srgbClr val="FCEFEA"/>
          </a:solidFill>
          <a:ln/>
        </p:spPr>
      </p:sp>
      <p:sp>
        <p:nvSpPr>
          <p:cNvPr id="17" name="Text 15"/>
          <p:cNvSpPr txBox="1"/>
          <p:nvPr/>
        </p:nvSpPr>
        <p:spPr>
          <a:xfrm>
            <a:off x="1005840" y="5440680"/>
            <a:ext cx="10149840" cy="960120"/>
          </a:xfrm>
          <a:prstGeom prst="rect">
            <a:avLst/>
          </a:prstGeom>
          <a:noFill/>
          <a:ln/>
        </p:spPr>
        <p:txBody>
          <a:bodyPr wrap="square" lIns="0" tIns="0" rIns="0" bIns="0" rtlCol="0" anchor="ctr"/>
          <a:lstStyle/>
          <a:p>
            <a:pPr algn="l" indent="0" marL="0">
              <a:buNone/>
            </a:pPr>
            <a:r>
              <a:rPr lang="en-US" sz="1300" b="1" dirty="0">
                <a:solidFill>
                  <a:srgbClr val="B3261E"/>
                </a:solidFill>
                <a:latin typeface="Calibri" pitchFamily="34" charset="0"/>
                <a:ea typeface="Calibri" pitchFamily="34" charset="-122"/>
                <a:cs typeface="Calibri" pitchFamily="34" charset="-120"/>
              </a:rPr>
              <a:t>Explicitly excluded: </a:t>
            </a:r>
            <a:pPr algn="l" indent="0" marL="0">
              <a:buNone/>
            </a:pPr>
            <a:r>
              <a:rPr lang="en-US" sz="1300" dirty="0">
                <a:solidFill>
                  <a:srgbClr val="1A2B2E"/>
                </a:solidFill>
                <a:latin typeface="Calibri" pitchFamily="34" charset="0"/>
                <a:ea typeface="Calibri" pitchFamily="34" charset="-122"/>
                <a:cs typeface="Calibri" pitchFamily="34" charset="-120"/>
              </a:rPr>
              <a:t>further checkpoint inhibitors (MPS1/BUB1 inhibitors in oncology development) — the wrong direction for a patient whose checkpoint is already weakened.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2800" b="1" dirty="0">
                <a:solidFill>
                  <a:srgbClr val="1A2B2E"/>
                </a:solidFill>
                <a:latin typeface="Cambria" pitchFamily="34" charset="0"/>
                <a:ea typeface="Cambria" pitchFamily="34" charset="-122"/>
                <a:cs typeface="Cambria" pitchFamily="34" charset="-120"/>
              </a:rPr>
              <a:t>Not a Guess — A Solved Structure</a:t>
            </a:r>
            <a:endParaRPr lang="en-US" sz="2800" dirty="0"/>
          </a:p>
        </p:txBody>
      </p:sp>
      <p:sp>
        <p:nvSpPr>
          <p:cNvPr id="5" name="Text 3"/>
          <p:cNvSpPr txBox="1"/>
          <p:nvPr/>
        </p:nvSpPr>
        <p:spPr>
          <a:xfrm>
            <a:off x="1234440" y="960120"/>
            <a:ext cx="9601200" cy="365760"/>
          </a:xfrm>
          <a:prstGeom prst="rect">
            <a:avLst/>
          </a:prstGeom>
          <a:noFill/>
          <a:ln/>
        </p:spPr>
        <p:txBody>
          <a:bodyPr wrap="square" lIns="0" tIns="0" rIns="0" bIns="0" rtlCol="0" anchor="ctr"/>
          <a:lstStyle/>
          <a:p>
            <a:pPr algn="l" indent="0" marL="0">
              <a:buNone/>
            </a:pPr>
            <a:r>
              <a:rPr lang="en-US" sz="1400" dirty="0">
                <a:solidFill>
                  <a:srgbClr val="4E6367"/>
                </a:solidFill>
                <a:latin typeface="Calibri" pitchFamily="34" charset="0"/>
                <a:ea typeface="Calibri" pitchFamily="34" charset="-122"/>
                <a:cs typeface="Calibri" pitchFamily="34" charset="-120"/>
              </a:rPr>
              <a:t>Confirming target engagement experimentally, not by prediction</a:t>
            </a:r>
            <a:endParaRPr lang="en-US" sz="1400" dirty="0"/>
          </a:p>
        </p:txBody>
      </p:sp>
      <p:pic>
        <p:nvPicPr>
          <p:cNvPr id="6" name="Image 0" descr="E:/2026 Escritorio/Hackaton 2025/Track 2/figures/bosutinib_src_cocrystal.png">    </p:cNvPr>
          <p:cNvPicPr>
            <a:picLocks noChangeAspect="1"/>
          </p:cNvPicPr>
          <p:nvPr/>
        </p:nvPicPr>
        <p:blipFill>
          <a:blip r:embed="rId1"/>
          <a:stretch>
            <a:fillRect/>
          </a:stretch>
        </p:blipFill>
        <p:spPr>
          <a:xfrm>
            <a:off x="640080" y="1463040"/>
            <a:ext cx="6035040" cy="4937760"/>
          </a:xfrm>
          <a:prstGeom prst="rect">
            <a:avLst/>
          </a:prstGeom>
        </p:spPr>
      </p:pic>
      <p:sp>
        <p:nvSpPr>
          <p:cNvPr id="7" name="Shape 4"/>
          <p:cNvSpPr/>
          <p:nvPr/>
        </p:nvSpPr>
        <p:spPr>
          <a:xfrm>
            <a:off x="7040880" y="1600200"/>
            <a:ext cx="384048" cy="384048"/>
          </a:xfrm>
          <a:prstGeom prst="ellipse">
            <a:avLst/>
          </a:prstGeom>
          <a:solidFill>
            <a:srgbClr val="00A896"/>
          </a:solidFill>
          <a:ln/>
        </p:spPr>
      </p:sp>
      <p:sp>
        <p:nvSpPr>
          <p:cNvPr id="8" name="Text 5"/>
          <p:cNvSpPr txBox="1"/>
          <p:nvPr/>
        </p:nvSpPr>
        <p:spPr>
          <a:xfrm>
            <a:off x="7040880" y="16002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Text 6"/>
          <p:cNvSpPr txBox="1"/>
          <p:nvPr/>
        </p:nvSpPr>
        <p:spPr>
          <a:xfrm>
            <a:off x="7589520" y="1554480"/>
            <a:ext cx="4114800" cy="411480"/>
          </a:xfrm>
          <a:prstGeom prst="rect">
            <a:avLst/>
          </a:prstGeom>
          <a:noFill/>
          <a:ln/>
        </p:spPr>
        <p:txBody>
          <a:bodyPr wrap="square" lIns="0" tIns="0" rIns="0" bIns="0" rtlCol="0" anchor="ctr"/>
          <a:lstStyle/>
          <a:p>
            <a:pPr algn="l" indent="0" marL="0">
              <a:buNone/>
            </a:pPr>
            <a:r>
              <a:rPr lang="en-US" sz="1500" b="1" dirty="0">
                <a:solidFill>
                  <a:srgbClr val="1A2B2E"/>
                </a:solidFill>
                <a:latin typeface="Calibri" pitchFamily="34" charset="0"/>
                <a:ea typeface="Calibri" pitchFamily="34" charset="-122"/>
                <a:cs typeface="Calibri" pitchFamily="34" charset="-120"/>
              </a:rPr>
              <a:t>PDB 4MXO</a:t>
            </a:r>
            <a:endParaRPr lang="en-US" sz="1500" dirty="0"/>
          </a:p>
        </p:txBody>
      </p:sp>
      <p:sp>
        <p:nvSpPr>
          <p:cNvPr id="10" name="Text 7"/>
          <p:cNvSpPr txBox="1"/>
          <p:nvPr/>
        </p:nvSpPr>
        <p:spPr>
          <a:xfrm>
            <a:off x="7589520" y="1984248"/>
            <a:ext cx="4114800" cy="914400"/>
          </a:xfrm>
          <a:prstGeom prst="rect">
            <a:avLst/>
          </a:prstGeom>
          <a:noFill/>
          <a:ln/>
        </p:spPr>
        <p:txBody>
          <a:bodyPr wrap="square" lIns="0" tIns="0" rIns="0" bIns="0" rtlCol="0" anchor="ctr"/>
          <a:lstStyle/>
          <a:p>
            <a:pPr algn="l" indent="0" marL="0">
              <a:buNone/>
            </a:pPr>
            <a:r>
              <a:rPr lang="en-US" sz="1250" dirty="0">
                <a:solidFill>
                  <a:srgbClr val="4E6367"/>
                </a:solidFill>
                <a:latin typeface="Calibri" pitchFamily="34" charset="0"/>
                <a:ea typeface="Calibri" pitchFamily="34" charset="-122"/>
                <a:cs typeface="Calibri" pitchFamily="34" charset="-120"/>
              </a:rPr>
              <a:t>Human Src kinase, experimentally solved bound to bosutinib — not a computational docking prediction.</a:t>
            </a:r>
            <a:endParaRPr lang="en-US" sz="1250" dirty="0"/>
          </a:p>
        </p:txBody>
      </p:sp>
      <p:sp>
        <p:nvSpPr>
          <p:cNvPr id="11" name="Shape 8"/>
          <p:cNvSpPr/>
          <p:nvPr/>
        </p:nvSpPr>
        <p:spPr>
          <a:xfrm>
            <a:off x="7040880" y="3063240"/>
            <a:ext cx="384048" cy="384048"/>
          </a:xfrm>
          <a:prstGeom prst="ellipse">
            <a:avLst/>
          </a:prstGeom>
          <a:solidFill>
            <a:srgbClr val="00A896"/>
          </a:solidFill>
          <a:ln/>
        </p:spPr>
      </p:sp>
      <p:sp>
        <p:nvSpPr>
          <p:cNvPr id="12" name="Text 9"/>
          <p:cNvSpPr txBox="1"/>
          <p:nvPr/>
        </p:nvSpPr>
        <p:spPr>
          <a:xfrm>
            <a:off x="7040880" y="30632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3" name="Text 10"/>
          <p:cNvSpPr txBox="1"/>
          <p:nvPr/>
        </p:nvSpPr>
        <p:spPr>
          <a:xfrm>
            <a:off x="7589520" y="3017520"/>
            <a:ext cx="4114800" cy="411480"/>
          </a:xfrm>
          <a:prstGeom prst="rect">
            <a:avLst/>
          </a:prstGeom>
          <a:noFill/>
          <a:ln/>
        </p:spPr>
        <p:txBody>
          <a:bodyPr wrap="square" lIns="0" tIns="0" rIns="0" bIns="0" rtlCol="0" anchor="ctr"/>
          <a:lstStyle/>
          <a:p>
            <a:pPr algn="l" indent="0" marL="0">
              <a:buNone/>
            </a:pPr>
            <a:r>
              <a:rPr lang="en-US" sz="1500" b="1" dirty="0">
                <a:solidFill>
                  <a:srgbClr val="1A2B2E"/>
                </a:solidFill>
                <a:latin typeface="Calibri" pitchFamily="34" charset="0"/>
                <a:ea typeface="Calibri" pitchFamily="34" charset="-122"/>
                <a:cs typeface="Calibri" pitchFamily="34" charset="-120"/>
              </a:rPr>
              <a:t>Confirms the exact mechanism</a:t>
            </a:r>
            <a:endParaRPr lang="en-US" sz="1500" dirty="0"/>
          </a:p>
        </p:txBody>
      </p:sp>
      <p:sp>
        <p:nvSpPr>
          <p:cNvPr id="14" name="Text 11"/>
          <p:cNvSpPr txBox="1"/>
          <p:nvPr/>
        </p:nvSpPr>
        <p:spPr>
          <a:xfrm>
            <a:off x="7589520" y="3447288"/>
            <a:ext cx="4114800" cy="914400"/>
          </a:xfrm>
          <a:prstGeom prst="rect">
            <a:avLst/>
          </a:prstGeom>
          <a:noFill/>
          <a:ln/>
        </p:spPr>
        <p:txBody>
          <a:bodyPr wrap="square" lIns="0" tIns="0" rIns="0" bIns="0" rtlCol="0" anchor="ctr"/>
          <a:lstStyle/>
          <a:p>
            <a:pPr algn="l" indent="0" marL="0">
              <a:buNone/>
            </a:pPr>
            <a:r>
              <a:rPr lang="en-US" sz="1250" dirty="0">
                <a:solidFill>
                  <a:srgbClr val="4E6367"/>
                </a:solidFill>
                <a:latin typeface="Calibri" pitchFamily="34" charset="0"/>
                <a:ea typeface="Calibri" pitchFamily="34" charset="-122"/>
                <a:cs typeface="Calibri" pitchFamily="34" charset="-120"/>
              </a:rPr>
              <a:t>The same Src engagement Schukken et al. (2020) showed to be selectively lethal in spindle-checkpoint-deficient cells.</a:t>
            </a:r>
            <a:endParaRPr lang="en-US" sz="1250" dirty="0"/>
          </a:p>
        </p:txBody>
      </p:sp>
      <p:sp>
        <p:nvSpPr>
          <p:cNvPr id="15" name="Shape 12"/>
          <p:cNvSpPr/>
          <p:nvPr/>
        </p:nvSpPr>
        <p:spPr>
          <a:xfrm>
            <a:off x="7040880" y="4526280"/>
            <a:ext cx="384048" cy="384048"/>
          </a:xfrm>
          <a:prstGeom prst="ellipse">
            <a:avLst/>
          </a:prstGeom>
          <a:solidFill>
            <a:srgbClr val="00A896"/>
          </a:solidFill>
          <a:ln/>
        </p:spPr>
      </p:sp>
      <p:sp>
        <p:nvSpPr>
          <p:cNvPr id="16" name="Text 13"/>
          <p:cNvSpPr txBox="1"/>
          <p:nvPr/>
        </p:nvSpPr>
        <p:spPr>
          <a:xfrm>
            <a:off x="7040880" y="45262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4"/>
          <p:cNvSpPr txBox="1"/>
          <p:nvPr/>
        </p:nvSpPr>
        <p:spPr>
          <a:xfrm>
            <a:off x="7589520" y="4480560"/>
            <a:ext cx="4114800" cy="411480"/>
          </a:xfrm>
          <a:prstGeom prst="rect">
            <a:avLst/>
          </a:prstGeom>
          <a:noFill/>
          <a:ln/>
        </p:spPr>
        <p:txBody>
          <a:bodyPr wrap="square" lIns="0" tIns="0" rIns="0" bIns="0" rtlCol="0" anchor="ctr"/>
          <a:lstStyle/>
          <a:p>
            <a:pPr algn="l" indent="0" marL="0">
              <a:buNone/>
            </a:pPr>
            <a:r>
              <a:rPr lang="en-US" sz="1500" b="1" dirty="0">
                <a:solidFill>
                  <a:srgbClr val="1A2B2E"/>
                </a:solidFill>
                <a:latin typeface="Calibri" pitchFamily="34" charset="0"/>
                <a:ea typeface="Calibri" pitchFamily="34" charset="-122"/>
                <a:cs typeface="Calibri" pitchFamily="34" charset="-120"/>
              </a:rPr>
              <a:t>PDB 3UE4</a:t>
            </a:r>
            <a:endParaRPr lang="en-US" sz="1500" dirty="0"/>
          </a:p>
        </p:txBody>
      </p:sp>
      <p:sp>
        <p:nvSpPr>
          <p:cNvPr id="18" name="Text 15"/>
          <p:cNvSpPr txBox="1"/>
          <p:nvPr/>
        </p:nvSpPr>
        <p:spPr>
          <a:xfrm>
            <a:off x="7589520" y="4910328"/>
            <a:ext cx="4114800" cy="914400"/>
          </a:xfrm>
          <a:prstGeom prst="rect">
            <a:avLst/>
          </a:prstGeom>
          <a:noFill/>
          <a:ln/>
        </p:spPr>
        <p:txBody>
          <a:bodyPr wrap="square" lIns="0" tIns="0" rIns="0" bIns="0" rtlCol="0" anchor="ctr"/>
          <a:lstStyle/>
          <a:p>
            <a:pPr algn="l" indent="0" marL="0">
              <a:buNone/>
            </a:pPr>
            <a:r>
              <a:rPr lang="en-US" sz="1250" dirty="0">
                <a:solidFill>
                  <a:srgbClr val="4E6367"/>
                </a:solidFill>
                <a:latin typeface="Calibri" pitchFamily="34" charset="0"/>
                <a:ea typeface="Calibri" pitchFamily="34" charset="-122"/>
                <a:cs typeface="Calibri" pitchFamily="34" charset="-120"/>
              </a:rPr>
              <a:t>Bosutinib is also independently solved bound to Abl kinase, its other established target.</a:t>
            </a:r>
            <a:endParaRPr lang="en-US" sz="1250" dirty="0"/>
          </a:p>
        </p:txBody>
      </p:sp>
      <p:sp>
        <p:nvSpPr>
          <p:cNvPr id="19" name="Shape 16"/>
          <p:cNvSpPr/>
          <p:nvPr/>
        </p:nvSpPr>
        <p:spPr>
          <a:xfrm>
            <a:off x="7040880" y="5806440"/>
            <a:ext cx="4572000" cy="594360"/>
          </a:xfrm>
          <a:prstGeom prst="roundRect">
            <a:avLst>
              <a:gd name="adj" fmla="val 15385"/>
            </a:avLst>
          </a:prstGeom>
          <a:solidFill>
            <a:srgbClr val="F2F9F8"/>
          </a:solidFill>
          <a:ln/>
        </p:spPr>
      </p:sp>
      <p:sp>
        <p:nvSpPr>
          <p:cNvPr id="20" name="Text 17"/>
          <p:cNvSpPr txBox="1"/>
          <p:nvPr/>
        </p:nvSpPr>
        <p:spPr>
          <a:xfrm>
            <a:off x="7223760" y="5806440"/>
            <a:ext cx="4297680" cy="594360"/>
          </a:xfrm>
          <a:prstGeom prst="rect">
            <a:avLst/>
          </a:prstGeom>
          <a:noFill/>
          <a:ln/>
        </p:spPr>
        <p:txBody>
          <a:bodyPr wrap="square" lIns="0" tIns="0" rIns="0" bIns="0" rtlCol="0" anchor="ctr"/>
          <a:lstStyle/>
          <a:p>
            <a:pPr algn="l" indent="0" marL="0">
              <a:buNone/>
            </a:pPr>
            <a:r>
              <a:rPr lang="en-US" sz="1100" i="1" dirty="0">
                <a:solidFill>
                  <a:srgbClr val="028090"/>
                </a:solidFill>
                <a:latin typeface="Calibri" pitchFamily="34" charset="0"/>
                <a:ea typeface="Calibri" pitchFamily="34" charset="-122"/>
                <a:cs typeface="Calibri" pitchFamily="34" charset="-120"/>
              </a:rPr>
              <a:t>A solved structure is stronger evidence of compatibility than docking would be.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457200" cy="457200"/>
          </a:xfrm>
          <a:prstGeom prst="ellipse">
            <a:avLst/>
          </a:prstGeom>
          <a:solidFill>
            <a:srgbClr val="028090"/>
          </a:solidFill>
          <a:ln/>
        </p:spPr>
      </p:sp>
      <p:sp>
        <p:nvSpPr>
          <p:cNvPr id="3" name="Text 1"/>
          <p:cNvSpPr txBox="1"/>
          <p:nvPr/>
        </p:nvSpPr>
        <p:spPr>
          <a:xfrm>
            <a:off x="548640" y="5029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4" name="Text 2"/>
          <p:cNvSpPr txBox="1"/>
          <p:nvPr/>
        </p:nvSpPr>
        <p:spPr>
          <a:xfrm>
            <a:off x="1234440" y="438912"/>
            <a:ext cx="9601200" cy="594360"/>
          </a:xfrm>
          <a:prstGeom prst="rect">
            <a:avLst/>
          </a:prstGeom>
          <a:noFill/>
          <a:ln/>
        </p:spPr>
        <p:txBody>
          <a:bodyPr wrap="square" lIns="0" tIns="0" rIns="0" bIns="0" rtlCol="0" anchor="ctr"/>
          <a:lstStyle/>
          <a:p>
            <a:pPr algn="l" indent="0" marL="0">
              <a:buNone/>
            </a:pPr>
            <a:r>
              <a:rPr lang="en-US" sz="3000" b="1" dirty="0">
                <a:solidFill>
                  <a:srgbClr val="1A2B2E"/>
                </a:solidFill>
                <a:latin typeface="Cambria" pitchFamily="34" charset="0"/>
                <a:ea typeface="Cambria" pitchFamily="34" charset="-122"/>
                <a:cs typeface="Cambria" pitchFamily="34" charset="-120"/>
              </a:rPr>
              <a:t>Beyond This One Child</a:t>
            </a:r>
            <a:endParaRPr lang="en-US" sz="3000" dirty="0"/>
          </a:p>
        </p:txBody>
      </p:sp>
      <p:sp>
        <p:nvSpPr>
          <p:cNvPr id="5" name="Shape 3"/>
          <p:cNvSpPr/>
          <p:nvPr/>
        </p:nvSpPr>
        <p:spPr>
          <a:xfrm>
            <a:off x="822960" y="1600200"/>
            <a:ext cx="457200" cy="457200"/>
          </a:xfrm>
          <a:prstGeom prst="ellipse">
            <a:avLst/>
          </a:prstGeom>
          <a:solidFill>
            <a:srgbClr val="02C39A"/>
          </a:solidFill>
          <a:ln/>
        </p:spPr>
      </p:sp>
      <p:sp>
        <p:nvSpPr>
          <p:cNvPr id="6" name="Text 4"/>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7" name="Text 5"/>
          <p:cNvSpPr txBox="1"/>
          <p:nvPr/>
        </p:nvSpPr>
        <p:spPr>
          <a:xfrm>
            <a:off x="1508760" y="1554480"/>
            <a:ext cx="9509760" cy="411480"/>
          </a:xfrm>
          <a:prstGeom prst="rect">
            <a:avLst/>
          </a:prstGeom>
          <a:noFill/>
          <a:ln/>
        </p:spPr>
        <p:txBody>
          <a:bodyPr wrap="square" lIns="0" tIns="0" rIns="0" bIns="0" rtlCol="0" anchor="ctr"/>
          <a:lstStyle/>
          <a:p>
            <a:pPr algn="l" indent="0" marL="0">
              <a:buNone/>
            </a:pPr>
            <a:r>
              <a:rPr lang="en-US" sz="1700" b="1" dirty="0">
                <a:solidFill>
                  <a:srgbClr val="1A2B2E"/>
                </a:solidFill>
                <a:latin typeface="Calibri" pitchFamily="34" charset="0"/>
                <a:ea typeface="Calibri" pitchFamily="34" charset="-122"/>
                <a:cs typeface="Calibri" pitchFamily="34" charset="-120"/>
              </a:rPr>
              <a:t>Generalizes to the other two MVA genes</a:t>
            </a:r>
            <a:endParaRPr lang="en-US" sz="1700" dirty="0"/>
          </a:p>
        </p:txBody>
      </p:sp>
      <p:sp>
        <p:nvSpPr>
          <p:cNvPr id="8" name="Text 6"/>
          <p:cNvSpPr txBox="1"/>
          <p:nvPr/>
        </p:nvSpPr>
        <p:spPr>
          <a:xfrm>
            <a:off x="1508760" y="1984248"/>
            <a:ext cx="9509760" cy="685800"/>
          </a:xfrm>
          <a:prstGeom prst="rect">
            <a:avLst/>
          </a:prstGeom>
          <a:noFill/>
          <a:ln/>
        </p:spPr>
        <p:txBody>
          <a:bodyPr wrap="square" lIns="0" tIns="0" rIns="0" bIns="0" rtlCol="0" anchor="ctr"/>
          <a:lstStyle/>
          <a:p>
            <a:pPr algn="l" indent="0" marL="0">
              <a:buNone/>
            </a:pPr>
            <a:r>
              <a:rPr lang="en-US" sz="1350" dirty="0">
                <a:solidFill>
                  <a:srgbClr val="4E6367"/>
                </a:solidFill>
                <a:latin typeface="Calibri" pitchFamily="34" charset="0"/>
                <a:ea typeface="Calibri" pitchFamily="34" charset="-122"/>
                <a:cs typeface="Calibri" pitchFamily="34" charset="-120"/>
              </a:rPr>
              <a:t>CEP57 (MVA2) and TRIP13 (MVA3) converge on the same spindle-checkpoint pathway.</a:t>
            </a:r>
            <a:endParaRPr lang="en-US" sz="1350" dirty="0"/>
          </a:p>
        </p:txBody>
      </p:sp>
      <p:sp>
        <p:nvSpPr>
          <p:cNvPr id="9" name="Shape 7"/>
          <p:cNvSpPr/>
          <p:nvPr/>
        </p:nvSpPr>
        <p:spPr>
          <a:xfrm>
            <a:off x="822960" y="2880360"/>
            <a:ext cx="457200" cy="457200"/>
          </a:xfrm>
          <a:prstGeom prst="ellipse">
            <a:avLst/>
          </a:prstGeom>
          <a:solidFill>
            <a:srgbClr val="02C39A"/>
          </a:solidFill>
          <a:ln/>
        </p:spPr>
      </p:sp>
      <p:sp>
        <p:nvSpPr>
          <p:cNvPr id="10" name="Text 8"/>
          <p:cNvSpPr txBox="1"/>
          <p:nvPr/>
        </p:nvSpPr>
        <p:spPr>
          <a:xfrm>
            <a:off x="822960" y="288036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508760" y="2834640"/>
            <a:ext cx="9509760" cy="411480"/>
          </a:xfrm>
          <a:prstGeom prst="rect">
            <a:avLst/>
          </a:prstGeom>
          <a:noFill/>
          <a:ln/>
        </p:spPr>
        <p:txBody>
          <a:bodyPr wrap="square" lIns="0" tIns="0" rIns="0" bIns="0" rtlCol="0" anchor="ctr"/>
          <a:lstStyle/>
          <a:p>
            <a:pPr algn="l" indent="0" marL="0">
              <a:buNone/>
            </a:pPr>
            <a:r>
              <a:rPr lang="en-US" sz="1700" b="1" dirty="0">
                <a:solidFill>
                  <a:srgbClr val="1A2B2E"/>
                </a:solidFill>
                <a:latin typeface="Calibri" pitchFamily="34" charset="0"/>
                <a:ea typeface="Calibri" pitchFamily="34" charset="-122"/>
                <a:cs typeface="Calibri" pitchFamily="34" charset="-120"/>
              </a:rPr>
              <a:t>Generalizes to chromosomally unstable tumors broadly</a:t>
            </a:r>
            <a:endParaRPr lang="en-US" sz="1700" dirty="0"/>
          </a:p>
        </p:txBody>
      </p:sp>
      <p:sp>
        <p:nvSpPr>
          <p:cNvPr id="12" name="Text 10"/>
          <p:cNvSpPr txBox="1"/>
          <p:nvPr/>
        </p:nvSpPr>
        <p:spPr>
          <a:xfrm>
            <a:off x="1508760" y="3264408"/>
            <a:ext cx="9509760" cy="685800"/>
          </a:xfrm>
          <a:prstGeom prst="rect">
            <a:avLst/>
          </a:prstGeom>
          <a:noFill/>
          <a:ln/>
        </p:spPr>
        <p:txBody>
          <a:bodyPr wrap="square" lIns="0" tIns="0" rIns="0" bIns="0" rtlCol="0" anchor="ctr"/>
          <a:lstStyle/>
          <a:p>
            <a:pPr algn="l" indent="0" marL="0">
              <a:buNone/>
            </a:pPr>
            <a:r>
              <a:rPr lang="en-US" sz="1350" dirty="0">
                <a:solidFill>
                  <a:srgbClr val="4E6367"/>
                </a:solidFill>
                <a:latin typeface="Calibri" pitchFamily="34" charset="0"/>
                <a:ea typeface="Calibri" pitchFamily="34" charset="-122"/>
                <a:cs typeface="Calibri" pitchFamily="34" charset="-120"/>
              </a:rPr>
              <a:t>BUB1B/BUBR1 dependency independently reported in glioblastoma (Ding et al. 2012) and prostate cancer (Martinez et al. 2025).</a:t>
            </a:r>
            <a:endParaRPr lang="en-US" sz="1350" dirty="0"/>
          </a:p>
        </p:txBody>
      </p:sp>
      <p:sp>
        <p:nvSpPr>
          <p:cNvPr id="13" name="Shape 11"/>
          <p:cNvSpPr/>
          <p:nvPr/>
        </p:nvSpPr>
        <p:spPr>
          <a:xfrm>
            <a:off x="822960" y="4160520"/>
            <a:ext cx="457200" cy="457200"/>
          </a:xfrm>
          <a:prstGeom prst="ellipse">
            <a:avLst/>
          </a:prstGeom>
          <a:solidFill>
            <a:srgbClr val="02C39A"/>
          </a:solidFill>
          <a:ln/>
        </p:spPr>
      </p:sp>
      <p:sp>
        <p:nvSpPr>
          <p:cNvPr id="14" name="Text 12"/>
          <p:cNvSpPr txBox="1"/>
          <p:nvPr/>
        </p:nvSpPr>
        <p:spPr>
          <a:xfrm>
            <a:off x="822960" y="416052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5" name="Text 13"/>
          <p:cNvSpPr txBox="1"/>
          <p:nvPr/>
        </p:nvSpPr>
        <p:spPr>
          <a:xfrm>
            <a:off x="1508760" y="4114800"/>
            <a:ext cx="9509760" cy="411480"/>
          </a:xfrm>
          <a:prstGeom prst="rect">
            <a:avLst/>
          </a:prstGeom>
          <a:noFill/>
          <a:ln/>
        </p:spPr>
        <p:txBody>
          <a:bodyPr wrap="square" lIns="0" tIns="0" rIns="0" bIns="0" rtlCol="0" anchor="ctr"/>
          <a:lstStyle/>
          <a:p>
            <a:pPr algn="l" indent="0" marL="0">
              <a:buNone/>
            </a:pPr>
            <a:r>
              <a:rPr lang="en-US" sz="1700" b="1" dirty="0">
                <a:solidFill>
                  <a:srgbClr val="1A2B2E"/>
                </a:solidFill>
                <a:latin typeface="Calibri" pitchFamily="34" charset="0"/>
                <a:ea typeface="Calibri" pitchFamily="34" charset="-122"/>
                <a:cs typeface="Calibri" pitchFamily="34" charset="-120"/>
              </a:rPr>
              <a:t>A reusable pipeline, not a one-off</a:t>
            </a:r>
            <a:endParaRPr lang="en-US" sz="1700" dirty="0"/>
          </a:p>
        </p:txBody>
      </p:sp>
      <p:sp>
        <p:nvSpPr>
          <p:cNvPr id="16" name="Text 14"/>
          <p:cNvSpPr txBox="1"/>
          <p:nvPr/>
        </p:nvSpPr>
        <p:spPr>
          <a:xfrm>
            <a:off x="1508760" y="4544568"/>
            <a:ext cx="9509760" cy="685800"/>
          </a:xfrm>
          <a:prstGeom prst="rect">
            <a:avLst/>
          </a:prstGeom>
          <a:noFill/>
          <a:ln/>
        </p:spPr>
        <p:txBody>
          <a:bodyPr wrap="square" lIns="0" tIns="0" rIns="0" bIns="0" rtlCol="0" anchor="ctr"/>
          <a:lstStyle/>
          <a:p>
            <a:pPr algn="l" indent="0" marL="0">
              <a:buNone/>
            </a:pPr>
            <a:r>
              <a:rPr lang="en-US" sz="1350" dirty="0">
                <a:solidFill>
                  <a:srgbClr val="4E6367"/>
                </a:solidFill>
                <a:latin typeface="Calibri" pitchFamily="34" charset="0"/>
                <a:ea typeface="Calibri" pitchFamily="34" charset="-122"/>
                <a:cs typeface="Calibri" pitchFamily="34" charset="-120"/>
              </a:rPr>
              <a:t>Phenotype → mechanism → literature-mined approved drugs — directly applicable to the next undiagnosed rare-disease case.</a:t>
            </a:r>
            <a:endParaRPr lang="en-US" sz="1350" dirty="0"/>
          </a:p>
        </p:txBody>
      </p:sp>
      <p:sp>
        <p:nvSpPr>
          <p:cNvPr id="17" name="Shape 15"/>
          <p:cNvSpPr/>
          <p:nvPr/>
        </p:nvSpPr>
        <p:spPr>
          <a:xfrm>
            <a:off x="731520" y="5623560"/>
            <a:ext cx="10698480" cy="777240"/>
          </a:xfrm>
          <a:prstGeom prst="roundRect">
            <a:avLst>
              <a:gd name="adj" fmla="val 11765"/>
            </a:avLst>
          </a:prstGeom>
          <a:solidFill>
            <a:srgbClr val="D9F0EE"/>
          </a:solidFill>
          <a:ln/>
        </p:spPr>
      </p:sp>
      <p:sp>
        <p:nvSpPr>
          <p:cNvPr id="18" name="Text 16"/>
          <p:cNvSpPr txBox="1"/>
          <p:nvPr/>
        </p:nvSpPr>
        <p:spPr>
          <a:xfrm>
            <a:off x="1005840" y="5623560"/>
            <a:ext cx="10149840" cy="777240"/>
          </a:xfrm>
          <a:prstGeom prst="rect">
            <a:avLst/>
          </a:prstGeom>
          <a:noFill/>
          <a:ln/>
        </p:spPr>
        <p:txBody>
          <a:bodyPr wrap="square" lIns="0" tIns="0" rIns="0" bIns="0" rtlCol="0" anchor="ctr"/>
          <a:lstStyle/>
          <a:p>
            <a:pPr algn="l" indent="0" marL="0">
              <a:buNone/>
            </a:pPr>
            <a:r>
              <a:rPr lang="en-US" sz="1250" i="1" dirty="0">
                <a:solidFill>
                  <a:srgbClr val="028090"/>
                </a:solidFill>
                <a:latin typeface="Calibri" pitchFamily="34" charset="0"/>
                <a:ea typeface="Calibri" pitchFamily="34" charset="-122"/>
                <a:cs typeface="Calibri" pitchFamily="34" charset="-120"/>
              </a:rPr>
              <a:t>Same triage logic already found this compound-het pair independently confirmed by ~20 other teams in this hackathon.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1353C"/>
        </a:solidFill>
      </p:bgPr>
    </p:bg>
    <p:spTree>
      <p:nvGrpSpPr>
        <p:cNvPr id="1" name=""/>
        <p:cNvGrpSpPr/>
        <p:nvPr/>
      </p:nvGrpSpPr>
      <p:grpSpPr>
        <a:xfrm>
          <a:off x="0" y="0"/>
          <a:ext cx="0" cy="0"/>
          <a:chOff x="0" y="0"/>
          <a:chExt cx="0" cy="0"/>
        </a:xfrm>
      </p:grpSpPr>
      <p:sp>
        <p:nvSpPr>
          <p:cNvPr id="2" name="Shape 0"/>
          <p:cNvSpPr/>
          <p:nvPr/>
        </p:nvSpPr>
        <p:spPr>
          <a:xfrm>
            <a:off x="-1097280" y="-1188720"/>
            <a:ext cx="3657600" cy="3657600"/>
          </a:xfrm>
          <a:prstGeom prst="ellipse">
            <a:avLst/>
          </a:prstGeom>
          <a:solidFill>
            <a:srgbClr val="023E45"/>
          </a:solidFill>
          <a:ln/>
        </p:spPr>
      </p:sp>
      <p:sp>
        <p:nvSpPr>
          <p:cNvPr id="3" name="Shape 1"/>
          <p:cNvSpPr/>
          <p:nvPr/>
        </p:nvSpPr>
        <p:spPr>
          <a:xfrm>
            <a:off x="10515600" y="5120640"/>
            <a:ext cx="3291840" cy="3291840"/>
          </a:xfrm>
          <a:prstGeom prst="ellipse">
            <a:avLst/>
          </a:prstGeom>
          <a:solidFill>
            <a:srgbClr val="023E45"/>
          </a:solidFill>
          <a:ln/>
        </p:spPr>
      </p:sp>
      <p:sp>
        <p:nvSpPr>
          <p:cNvPr id="4" name="Text 2"/>
          <p:cNvSpPr txBox="1"/>
          <p:nvPr/>
        </p:nvSpPr>
        <p:spPr>
          <a:xfrm>
            <a:off x="731520" y="1463040"/>
            <a:ext cx="10698480" cy="15544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Hypotheses for Follow-Up,</a:t>
            </a:r>
            <a:endParaRPr lang="en-US" sz="3800" dirty="0"/>
          </a:p>
          <a:p>
            <a:pPr algn="l" indent="0" marL="0">
              <a:buNone/>
            </a:pPr>
            <a:r>
              <a:rPr lang="en-US" sz="3800" b="1" dirty="0">
                <a:solidFill>
                  <a:srgbClr val="FFFFFF"/>
                </a:solidFill>
                <a:latin typeface="Cambria" pitchFamily="34" charset="0"/>
                <a:ea typeface="Cambria" pitchFamily="34" charset="-122"/>
                <a:cs typeface="Cambria" pitchFamily="34" charset="-120"/>
              </a:rPr>
              <a:t>Not Proven Treatments</a:t>
            </a:r>
            <a:endParaRPr lang="en-US" sz="3800" dirty="0"/>
          </a:p>
        </p:txBody>
      </p:sp>
      <p:sp>
        <p:nvSpPr>
          <p:cNvPr id="5" name="Text 3"/>
          <p:cNvSpPr txBox="1"/>
          <p:nvPr/>
        </p:nvSpPr>
        <p:spPr>
          <a:xfrm>
            <a:off x="731520" y="3063240"/>
            <a:ext cx="10058400" cy="502920"/>
          </a:xfrm>
          <a:prstGeom prst="rect">
            <a:avLst/>
          </a:prstGeom>
          <a:noFill/>
          <a:ln/>
        </p:spPr>
        <p:txBody>
          <a:bodyPr wrap="square" lIns="0" tIns="0" rIns="0" bIns="0" rtlCol="0" anchor="ctr"/>
          <a:lstStyle/>
          <a:p>
            <a:pPr algn="l" indent="0" marL="0">
              <a:buNone/>
            </a:pPr>
            <a:r>
              <a:rPr lang="en-US" sz="1600" dirty="0">
                <a:solidFill>
                  <a:srgbClr val="D9F0EE"/>
                </a:solidFill>
                <a:latin typeface="Calibri" pitchFamily="34" charset="0"/>
                <a:ea typeface="Calibri" pitchFamily="34" charset="-122"/>
                <a:cs typeface="Calibri" pitchFamily="34" charset="-120"/>
              </a:rPr>
              <a:t>Next step: validation in this child's own patient-derived cells (e.g. fibroblasts).</a:t>
            </a:r>
            <a:endParaRPr lang="en-US" sz="1600" dirty="0"/>
          </a:p>
        </p:txBody>
      </p:sp>
      <p:sp>
        <p:nvSpPr>
          <p:cNvPr id="6" name="Shape 4"/>
          <p:cNvSpPr/>
          <p:nvPr/>
        </p:nvSpPr>
        <p:spPr>
          <a:xfrm>
            <a:off x="731520" y="4160520"/>
            <a:ext cx="7863840" cy="777240"/>
          </a:xfrm>
          <a:prstGeom prst="roundRect">
            <a:avLst>
              <a:gd name="adj" fmla="val 11765"/>
            </a:avLst>
          </a:prstGeom>
          <a:solidFill>
            <a:srgbClr val="023E45"/>
          </a:solidFill>
          <a:ln/>
        </p:spPr>
      </p:sp>
      <p:sp>
        <p:nvSpPr>
          <p:cNvPr id="7" name="Text 5"/>
          <p:cNvSpPr txBox="1"/>
          <p:nvPr/>
        </p:nvSpPr>
        <p:spPr>
          <a:xfrm>
            <a:off x="1005840" y="4160520"/>
            <a:ext cx="7315200" cy="777240"/>
          </a:xfrm>
          <a:prstGeom prst="rect">
            <a:avLst/>
          </a:prstGeom>
          <a:noFill/>
          <a:ln/>
        </p:spPr>
        <p:txBody>
          <a:bodyPr wrap="square" lIns="0" tIns="0" rIns="0" bIns="0" rtlCol="0" anchor="ctr"/>
          <a:lstStyle/>
          <a:p>
            <a:pPr algn="l" indent="0" marL="0">
              <a:buNone/>
            </a:pPr>
            <a:r>
              <a:rPr lang="en-US" sz="1400" b="1" dirty="0">
                <a:solidFill>
                  <a:srgbClr val="D9F0EE"/>
                </a:solidFill>
                <a:latin typeface="Calibri" pitchFamily="34" charset="0"/>
                <a:ea typeface="Calibri" pitchFamily="34" charset="-122"/>
                <a:cs typeface="Calibri" pitchFamily="34" charset="-120"/>
              </a:rPr>
              <a:t>Code &amp; reports: </a:t>
            </a:r>
            <a:pPr algn="l" indent="0" marL="0">
              <a:buNone/>
            </a:pPr>
            <a:r>
              <a:rPr lang="en-US" sz="1400" dirty="0">
                <a:solidFill>
                  <a:srgbClr val="00A896"/>
                </a:solidFill>
                <a:latin typeface="Calibri" pitchFamily="34" charset="0"/>
                <a:ea typeface="Calibri" pitchFamily="34" charset="-122"/>
                <a:cs typeface="Calibri" pitchFamily="34" charset="-120"/>
              </a:rPr>
              <a:t>github.com/RuizHernandez/mva-hackathon-2026</a:t>
            </a:r>
            <a:endParaRPr lang="en-US" sz="1400" dirty="0"/>
          </a:p>
        </p:txBody>
      </p:sp>
      <p:sp>
        <p:nvSpPr>
          <p:cNvPr id="8" name="Text 6"/>
          <p:cNvSpPr txBox="1"/>
          <p:nvPr/>
        </p:nvSpPr>
        <p:spPr>
          <a:xfrm>
            <a:off x="731520" y="5623560"/>
            <a:ext cx="5486400" cy="457200"/>
          </a:xfrm>
          <a:prstGeom prst="rect">
            <a:avLst/>
          </a:prstGeom>
          <a:noFill/>
          <a:ln/>
        </p:spPr>
        <p:txBody>
          <a:bodyPr wrap="square" lIns="0" tIns="0" rIns="0" bIns="0" rtlCol="0" anchor="ctr"/>
          <a:lstStyle/>
          <a:p>
            <a:pPr algn="l" indent="0" marL="0">
              <a:buNone/>
            </a:pPr>
            <a:r>
              <a:rPr lang="en-US" sz="1800" i="1" dirty="0">
                <a:solidFill>
                  <a:srgbClr val="02C39A"/>
                </a:solidFill>
                <a:latin typeface="Cambria" pitchFamily="34" charset="0"/>
                <a:ea typeface="Cambria" pitchFamily="34" charset="-122"/>
                <a:cs typeface="Cambria" pitchFamily="34" charset="-120"/>
              </a:rPr>
              <a:t>Thank you.</a:t>
            </a:r>
            <a:endParaRPr lang="en-US" sz="1800" dirty="0"/>
          </a:p>
        </p:txBody>
      </p:sp>
      <p:sp>
        <p:nvSpPr>
          <p:cNvPr id="9" name="Text 7"/>
          <p:cNvSpPr txBox="1"/>
          <p:nvPr/>
        </p:nvSpPr>
        <p:spPr>
          <a:xfrm>
            <a:off x="731520" y="6355080"/>
            <a:ext cx="7315200" cy="365760"/>
          </a:xfrm>
          <a:prstGeom prst="rect">
            <a:avLst/>
          </a:prstGeom>
          <a:noFill/>
          <a:ln/>
        </p:spPr>
        <p:txBody>
          <a:bodyPr wrap="square" lIns="0" tIns="0" rIns="0" bIns="0" rtlCol="0" anchor="ctr"/>
          <a:lstStyle/>
          <a:p>
            <a:pPr algn="l" indent="0" marL="0">
              <a:buNone/>
            </a:pPr>
            <a:r>
              <a:rPr lang="en-US" sz="1200" dirty="0">
                <a:solidFill>
                  <a:srgbClr val="4E6367"/>
                </a:solidFill>
                <a:latin typeface="Calibri" pitchFamily="34" charset="0"/>
                <a:ea typeface="Calibri" pitchFamily="34" charset="-122"/>
                <a:cs typeface="Calibri" pitchFamily="34" charset="-120"/>
              </a:rPr>
              <a:t>MVA Hackathon 2026 · Track 2 — Drug Repurposing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2026-08-30T04:43:53Z</dcterms:created>
  <dcterms:modified xsi:type="dcterms:W3CDTF">2026-08-30T04:43:53Z</dcterms:modified>
</cp:coreProperties>
</file>