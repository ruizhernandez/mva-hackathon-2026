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Hola, soy el Dr. Itan H. Ruiz Hernández. Este proyecto parte de un caso real: un niño con Aneuploidía Variegada Mosaico, una enfermedad ultra-rara que hoy no tiene tratamiento. En el Track 1 llegamos a un diagnóstico genético que muy probablemente es la causa. Esta parte, el Track 2, es sobre qué hacemos con ese diagnóstico. Encontramos dos medicamentos ya aprobados que valdría la pena probar, y no porque se nos ocurrió al azar, sino porque entendimos cómo exactamente esta enfermedad daña la célula.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[0:20-0:50] El niño tiene dañadas las dos copias del gen BUB1B. Una variante ya está registrada en ClinVar como patogénica. La otra es nueva, no está reportada todavía, pero SIFT y PolyPhen la predicen como dañina. BUB1B fabrica la proteína BUBR1, que es pieza clave del checkpoint del huso mitótico: básicamente el sistema que revisa que todos los cromosomas estén bien conectados antes de que la célula se divida.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[0:50-1:30] Cuando disminuye la cantidad de BUBR1, ese checkpoint deja de funcionar correctamente. Los cromosomas se separan antes de tiempo; la célula termina con el número equivocado de cromosomas y, con el tiempo, esa inestabilidad predispone a estos niños a cánceres como el rabdomiosarcoma. Además, revisamos esto en STRING y en Reactome, dos bases distintas, y en ambas BUB1B queda justo en el centro de esta misma vía.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[1:30-2:20] Entonces para el Track 2 la pregunta no era cómo reparamos el checkpoint, sino algo distinto: si esta célula ya tiene el checkpoint débil, ¿qué medicamento aprobado se aprovecha de eso? Encontramos dos. El bosutinib, que se usa para leucemia, ya se demostró en un estudio que es tóxica específicamente para células con el checkpoint defectuoso — que es justo el caso aquí. Y la metformina, que probablemente conocen porque se usa para diabetes, en un estudio de 2011 publicado en Cell, de Tang y colaboradores, mostró que estresa selectivamente a las células aneuploides a través de AMPK. Los dos son medicamentos baratos, genéricos, con años de uso en humanos, lo cual importa mucho cuando hablamos de una enfermedad tan rara que nadie va a desarrollar un fármaco nuevo solo para ella. Y algo que decidimos descartar a propósito: los inhibidores de checkpoint que se están desarrollando para oncología. Esos van en la dirección contraria, porque aquí el checkpoint ya está débil de por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[2:20-2:35] Y no nos quedamos en la teoría. Buscamos si existía evidencia de que el bosutinib realmente se une a su blanco, y sí la hay: una estructura resuelta por cristalografía, con PDB 4MXO, de bosutinib unido a la quinasa Src humana. Es el mismo mecanismo que describió Schukken en 2020. Hay otra estructura que muestra que también se une a Abl. Esto no es una predicción de computadora — es algo que ya se comprobó experimentalmente.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[2:35-2:50] Y esto no aplica solo a esta mutación. Los otros dos genes que causan MVA llegan al mismo mecanismo, y la misma vulnerabilidad ya se ha visto en glioblastoma y en cáncer de próstata. El camino que seguimos, de fenotipo a mecanismo a fármacos ya aprobados, se puede repetir con el siguiente caso sin diagnosticar.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[2:50-3:00] Estas son hipótesis, no tratamientos comprobados. El siguiente paso sería probarlas en células del propio paciente. Pero para una familia que hace poco ni siquiera tenía un diagnóstico, consideramos que esto ya es un punto de partida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53C"/>
        </a:solidFill>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023E45"/>
          </a:solidFill>
          <a:ln/>
        </p:spPr>
      </p:sp>
      <p:sp>
        <p:nvSpPr>
          <p:cNvPr id="3" name="Shape 1"/>
          <p:cNvSpPr/>
          <p:nvPr/>
        </p:nvSpPr>
        <p:spPr>
          <a:xfrm>
            <a:off x="-914400" y="4846320"/>
            <a:ext cx="3108960" cy="3108960"/>
          </a:xfrm>
          <a:prstGeom prst="ellipse">
            <a:avLst/>
          </a:prstGeom>
          <a:solidFill>
            <a:srgbClr val="023E45"/>
          </a:solidFill>
          <a:ln/>
        </p:spPr>
      </p:sp>
      <p:sp>
        <p:nvSpPr>
          <p:cNvPr id="4" name="Text 2"/>
          <p:cNvSpPr txBox="1"/>
          <p:nvPr/>
        </p:nvSpPr>
        <p:spPr>
          <a:xfrm>
            <a:off x="731520" y="2148840"/>
            <a:ext cx="10698480" cy="1188720"/>
          </a:xfrm>
          <a:prstGeom prst="rect">
            <a:avLst/>
          </a:prstGeom>
          <a:noFill/>
          <a:ln/>
        </p:spPr>
        <p:txBody>
          <a:bodyPr wrap="square" lIns="0" tIns="0" rIns="0" bIns="0" rtlCol="0" anchor="ctr"/>
          <a:lstStyle/>
          <a:p>
            <a:pPr algn="l" indent="0" marL="0">
              <a:buNone/>
            </a:pPr>
            <a:r>
              <a:rPr lang="en-US" sz="5400" b="1" dirty="0">
                <a:solidFill>
                  <a:srgbClr val="FFFFFF"/>
                </a:solidFill>
                <a:latin typeface="Cambria" pitchFamily="34" charset="0"/>
                <a:ea typeface="Cambria" pitchFamily="34" charset="-122"/>
                <a:cs typeface="Cambria" pitchFamily="34" charset="-120"/>
              </a:rPr>
              <a:t>BUB1B-MVA</a:t>
            </a:r>
            <a:endParaRPr lang="en-US" sz="5400" dirty="0"/>
          </a:p>
        </p:txBody>
      </p:sp>
      <p:sp>
        <p:nvSpPr>
          <p:cNvPr id="5" name="Text 3"/>
          <p:cNvSpPr txBox="1"/>
          <p:nvPr/>
        </p:nvSpPr>
        <p:spPr>
          <a:xfrm>
            <a:off x="731520" y="3246120"/>
            <a:ext cx="10058400" cy="640080"/>
          </a:xfrm>
          <a:prstGeom prst="rect">
            <a:avLst/>
          </a:prstGeom>
          <a:noFill/>
          <a:ln/>
        </p:spPr>
        <p:txBody>
          <a:bodyPr wrap="square" lIns="0" tIns="0" rIns="0" bIns="0" rtlCol="0" anchor="ctr"/>
          <a:lstStyle/>
          <a:p>
            <a:pPr algn="l" indent="0" marL="0">
              <a:buNone/>
            </a:pPr>
            <a:r>
              <a:rPr lang="en-US" sz="2200" dirty="0">
                <a:solidFill>
                  <a:srgbClr val="D9F0EE"/>
                </a:solidFill>
                <a:latin typeface="Calibri" pitchFamily="34" charset="0"/>
                <a:ea typeface="Calibri" pitchFamily="34" charset="-122"/>
                <a:cs typeface="Calibri" pitchFamily="34" charset="-120"/>
              </a:rPr>
              <a:t>From diagnosis to drug repurposing hypothesis</a:t>
            </a:r>
            <a:endParaRPr lang="en-US" sz="2200" dirty="0"/>
          </a:p>
        </p:txBody>
      </p:sp>
      <p:sp>
        <p:nvSpPr>
          <p:cNvPr id="6" name="Shape 4"/>
          <p:cNvSpPr/>
          <p:nvPr/>
        </p:nvSpPr>
        <p:spPr>
          <a:xfrm>
            <a:off x="731520" y="4343400"/>
            <a:ext cx="128016" cy="128016"/>
          </a:xfrm>
          <a:prstGeom prst="ellipse">
            <a:avLst/>
          </a:prstGeom>
          <a:solidFill>
            <a:srgbClr val="02C39A"/>
          </a:solidFill>
          <a:ln/>
        </p:spPr>
      </p:sp>
      <p:sp>
        <p:nvSpPr>
          <p:cNvPr id="7" name="Text 5"/>
          <p:cNvSpPr txBox="1"/>
          <p:nvPr/>
        </p:nvSpPr>
        <p:spPr>
          <a:xfrm>
            <a:off x="960120" y="4224528"/>
            <a:ext cx="7772400" cy="365760"/>
          </a:xfrm>
          <a:prstGeom prst="rect">
            <a:avLst/>
          </a:prstGeom>
          <a:noFill/>
          <a:ln/>
        </p:spPr>
        <p:txBody>
          <a:bodyPr wrap="square" lIns="0" tIns="0" rIns="0" bIns="0" rtlCol="0" anchor="ctr"/>
          <a:lstStyle/>
          <a:p>
            <a:pPr algn="l" indent="0" marL="0">
              <a:buNone/>
            </a:pPr>
            <a:r>
              <a:rPr lang="en-US" sz="1500" dirty="0">
                <a:solidFill>
                  <a:srgbClr val="00A896"/>
                </a:solidFill>
                <a:latin typeface="Calibri" pitchFamily="34" charset="0"/>
                <a:ea typeface="Calibri" pitchFamily="34" charset="-122"/>
                <a:cs typeface="Calibri" pitchFamily="34" charset="-120"/>
              </a:rPr>
              <a:t>MVA Hackathon 2026  ·  Track 2 — Drug Repurposing</a:t>
            </a:r>
            <a:endParaRPr lang="en-US" sz="1500" dirty="0"/>
          </a:p>
        </p:txBody>
      </p:sp>
      <p:sp>
        <p:nvSpPr>
          <p:cNvPr id="8" name="Text 6"/>
          <p:cNvSpPr txBox="1"/>
          <p:nvPr/>
        </p:nvSpPr>
        <p:spPr>
          <a:xfrm>
            <a:off x="731520" y="5989320"/>
            <a:ext cx="10058400" cy="457200"/>
          </a:xfrm>
          <a:prstGeom prst="rect">
            <a:avLst/>
          </a:prstGeom>
          <a:noFill/>
          <a:ln/>
        </p:spPr>
        <p:txBody>
          <a:bodyPr wrap="square" lIns="0" tIns="0" rIns="0" bIns="0" rtlCol="0" anchor="ctr"/>
          <a:lstStyle/>
          <a:p>
            <a:pPr algn="l" indent="0" marL="0">
              <a:buNone/>
            </a:pPr>
            <a:r>
              <a:rPr lang="en-US" sz="1300" i="1" dirty="0">
                <a:solidFill>
                  <a:srgbClr val="4E6367"/>
                </a:solidFill>
                <a:latin typeface="Calibri" pitchFamily="34" charset="0"/>
                <a:ea typeface="Calibri" pitchFamily="34" charset="-122"/>
                <a:cs typeface="Calibri" pitchFamily="34" charset="-120"/>
              </a:rPr>
              <a:t>A real child. A confirmed genetic diagnosis. Two approved medications worth investigating.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8090"/>
          </a:solidFill>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4" name="Text 2"/>
          <p:cNvSpPr txBox="1"/>
          <p:nvPr/>
        </p:nvSpPr>
        <p:spPr>
          <a:xfrm>
            <a:off x="1234440" y="438912"/>
            <a:ext cx="9601200" cy="594360"/>
          </a:xfrm>
          <a:prstGeom prst="rect">
            <a:avLst/>
          </a:prstGeom>
          <a:noFill/>
          <a:ln/>
        </p:spPr>
        <p:txBody>
          <a:bodyPr wrap="square" lIns="0" tIns="0" rIns="0" bIns="0" rtlCol="0" anchor="ctr"/>
          <a:lstStyle/>
          <a:p>
            <a:pPr algn="l" indent="0" marL="0">
              <a:buNone/>
            </a:pPr>
            <a:r>
              <a:rPr lang="en-US" sz="3000" b="1" dirty="0">
                <a:solidFill>
                  <a:srgbClr val="1A2B2E"/>
                </a:solidFill>
                <a:latin typeface="Cambria" pitchFamily="34" charset="0"/>
                <a:ea typeface="Cambria" pitchFamily="34" charset="-122"/>
                <a:cs typeface="Cambria" pitchFamily="34" charset="-120"/>
              </a:rPr>
              <a:t>Two damaged copies of one gene</a:t>
            </a:r>
            <a:endParaRPr lang="en-US" sz="3000" dirty="0"/>
          </a:p>
        </p:txBody>
      </p:sp>
      <p:sp>
        <p:nvSpPr>
          <p:cNvPr id="5" name="Text 3"/>
          <p:cNvSpPr txBox="1"/>
          <p:nvPr/>
        </p:nvSpPr>
        <p:spPr>
          <a:xfrm>
            <a:off x="1234440" y="960120"/>
            <a:ext cx="9601200" cy="365760"/>
          </a:xfrm>
          <a:prstGeom prst="rect">
            <a:avLst/>
          </a:prstGeom>
          <a:noFill/>
          <a:ln/>
        </p:spPr>
        <p:txBody>
          <a:bodyPr wrap="square" lIns="0" tIns="0" rIns="0" bIns="0" rtlCol="0" anchor="ctr"/>
          <a:lstStyle/>
          <a:p>
            <a:pPr algn="l" indent="0" marL="0">
              <a:buNone/>
            </a:pPr>
            <a:r>
              <a:rPr lang="en-US" sz="1400" dirty="0">
                <a:solidFill>
                  <a:srgbClr val="4E6367"/>
                </a:solidFill>
                <a:latin typeface="Calibri" pitchFamily="34" charset="0"/>
                <a:ea typeface="Calibri" pitchFamily="34" charset="-122"/>
                <a:cs typeface="Calibri" pitchFamily="34" charset="-120"/>
              </a:rPr>
              <a:t>BUB1B compound heterozygote in the proband (GRCh38)</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698480" cy="2377440"/>
        </p:xfrm>
        <a:graphic>
          <a:graphicData uri="http://schemas.openxmlformats.org/drawingml/2006/table">
            <a:tbl>
              <a:tblPr/>
              <a:tblGrid>
                <a:gridCol w="2139696"/>
                <a:gridCol w="2139696"/>
                <a:gridCol w="2139696"/>
                <a:gridCol w="2139696"/>
                <a:gridCol w="2139696"/>
              </a:tblGrid>
              <a:tr h="792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Variant</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02809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Position (GRCh38)</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02809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Change</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02809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Consequence</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02809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028090"/>
                    </a:solidFill>
                  </a:tcPr>
                </a:tc>
              </a:tr>
              <a:tr h="792480">
                <a:tc>
                  <a:txBody>
                    <a:bodyPr/>
                    <a:lstStyle/>
                    <a:p>
                      <a:pPr indent="0" marL="0">
                        <a:buNone/>
                      </a:pPr>
                      <a:r>
                        <a:rPr lang="en-US" sz="1300" b="1" dirty="0">
                          <a:solidFill>
                            <a:srgbClr val="1A2B2E"/>
                          </a:solidFill>
                          <a:latin typeface="Calibri" pitchFamily="34" charset="0"/>
                          <a:ea typeface="Calibri" pitchFamily="34" charset="-122"/>
                          <a:cs typeface="Calibri" pitchFamily="34" charset="-120"/>
                        </a:rPr>
                        <a:t>Variant 1</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F2F9F8"/>
                    </a:solidFill>
                  </a:tcPr>
                </a:tc>
                <a:tc>
                  <a:txBody>
                    <a:bodyPr/>
                    <a:lstStyle/>
                    <a:p>
                      <a:pPr indent="0" marL="0">
                        <a:buNone/>
                      </a:pPr>
                      <a:r>
                        <a:rPr lang="en-US" sz="1300" dirty="0">
                          <a:solidFill>
                            <a:srgbClr val="1A2B2E"/>
                          </a:solidFill>
                          <a:latin typeface="Calibri" pitchFamily="34" charset="0"/>
                          <a:ea typeface="Calibri" pitchFamily="34" charset="-122"/>
                          <a:cs typeface="Calibri" pitchFamily="34" charset="-120"/>
                        </a:rPr>
                        <a:t>chr15:40,209,701 T&gt;G</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F2F9F8"/>
                    </a:solidFill>
                  </a:tcPr>
                </a:tc>
                <a:tc>
                  <a:txBody>
                    <a:bodyPr/>
                    <a:lstStyle/>
                    <a:p>
                      <a:pPr indent="0" marL="0">
                        <a:buNone/>
                      </a:pPr>
                      <a:r>
                        <a:rPr lang="en-US" sz="1300" dirty="0">
                          <a:solidFill>
                            <a:srgbClr val="1A2B2E"/>
                          </a:solidFill>
                          <a:latin typeface="Calibri" pitchFamily="34" charset="0"/>
                          <a:ea typeface="Calibri" pitchFamily="34" charset="-122"/>
                          <a:cs typeface="Calibri" pitchFamily="34" charset="-120"/>
                        </a:rPr>
                        <a:t>c.2210T&gt;G / p.Leu737Ter</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F2F9F8"/>
                    </a:solidFill>
                  </a:tcPr>
                </a:tc>
                <a:tc>
                  <a:txBody>
                    <a:bodyPr/>
                    <a:lstStyle/>
                    <a:p>
                      <a:pPr indent="0" marL="0">
                        <a:buNone/>
                      </a:pPr>
                      <a:r>
                        <a:rPr lang="en-US" sz="1300" b="1" dirty="0">
                          <a:solidFill>
                            <a:srgbClr val="B3261E"/>
                          </a:solidFill>
                          <a:latin typeface="Calibri" pitchFamily="34" charset="0"/>
                          <a:ea typeface="Calibri" pitchFamily="34" charset="-122"/>
                          <a:cs typeface="Calibri" pitchFamily="34" charset="-120"/>
                        </a:rPr>
                        <a:t>stop-gained (HIGH)</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F2F9F8"/>
                    </a:solidFill>
                  </a:tcPr>
                </a:tc>
                <a:tc>
                  <a:txBody>
                    <a:bodyPr/>
                    <a:lstStyle/>
                    <a:p>
                      <a:pPr indent="0" marL="0">
                        <a:buNone/>
                      </a:pPr>
                      <a:r>
                        <a:rPr lang="en-US" sz="1300" dirty="0">
                          <a:solidFill>
                            <a:srgbClr val="1A2B2E"/>
                          </a:solidFill>
                          <a:latin typeface="Calibri" pitchFamily="34" charset="0"/>
                          <a:ea typeface="Calibri" pitchFamily="34" charset="-122"/>
                          <a:cs typeface="Calibri" pitchFamily="34" charset="-120"/>
                        </a:rPr>
                        <a:t>ClinVar: Pathogenic</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F2F9F8"/>
                    </a:solidFill>
                  </a:tcPr>
                </a:tc>
              </a:tr>
              <a:tr h="792480">
                <a:tc>
                  <a:txBody>
                    <a:bodyPr/>
                    <a:lstStyle/>
                    <a:p>
                      <a:pPr indent="0" marL="0">
                        <a:buNone/>
                      </a:pPr>
                      <a:r>
                        <a:rPr lang="en-US" sz="1300" b="1" dirty="0">
                          <a:solidFill>
                            <a:srgbClr val="1A2B2E"/>
                          </a:solidFill>
                          <a:latin typeface="Calibri" pitchFamily="34" charset="0"/>
                          <a:ea typeface="Calibri" pitchFamily="34" charset="-122"/>
                          <a:cs typeface="Calibri" pitchFamily="34" charset="-120"/>
                        </a:rPr>
                        <a:t>Variant 2</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FFFFFF"/>
                    </a:solidFill>
                  </a:tcPr>
                </a:tc>
                <a:tc>
                  <a:txBody>
                    <a:bodyPr/>
                    <a:lstStyle/>
                    <a:p>
                      <a:pPr indent="0" marL="0">
                        <a:buNone/>
                      </a:pPr>
                      <a:r>
                        <a:rPr lang="en-US" sz="1300" dirty="0">
                          <a:solidFill>
                            <a:srgbClr val="1A2B2E"/>
                          </a:solidFill>
                          <a:latin typeface="Calibri" pitchFamily="34" charset="0"/>
                          <a:ea typeface="Calibri" pitchFamily="34" charset="-122"/>
                          <a:cs typeface="Calibri" pitchFamily="34" charset="-120"/>
                        </a:rPr>
                        <a:t>chr15:40,220,612 T&gt;G</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FFFFFF"/>
                    </a:solidFill>
                  </a:tcPr>
                </a:tc>
                <a:tc>
                  <a:txBody>
                    <a:bodyPr/>
                    <a:lstStyle/>
                    <a:p>
                      <a:pPr indent="0" marL="0">
                        <a:buNone/>
                      </a:pPr>
                      <a:r>
                        <a:rPr lang="en-US" sz="1300" dirty="0">
                          <a:solidFill>
                            <a:srgbClr val="1A2B2E"/>
                          </a:solidFill>
                          <a:latin typeface="Calibri" pitchFamily="34" charset="0"/>
                          <a:ea typeface="Calibri" pitchFamily="34" charset="-122"/>
                          <a:cs typeface="Calibri" pitchFamily="34" charset="-120"/>
                        </a:rPr>
                        <a:t>c.3006T&gt;G / p.Asn1002Lys</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FFFFFF"/>
                    </a:solidFill>
                  </a:tcPr>
                </a:tc>
                <a:tc>
                  <a:txBody>
                    <a:bodyPr/>
                    <a:lstStyle/>
                    <a:p>
                      <a:pPr indent="0" marL="0">
                        <a:buNone/>
                      </a:pPr>
                      <a:r>
                        <a:rPr lang="en-US" sz="1300" b="1" dirty="0">
                          <a:solidFill>
                            <a:srgbClr val="B36B00"/>
                          </a:solidFill>
                          <a:latin typeface="Calibri" pitchFamily="34" charset="0"/>
                          <a:ea typeface="Calibri" pitchFamily="34" charset="-122"/>
                          <a:cs typeface="Calibri" pitchFamily="34" charset="-120"/>
                        </a:rPr>
                        <a:t>missense (MODERATE)</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FFFFFF"/>
                    </a:solidFill>
                  </a:tcPr>
                </a:tc>
                <a:tc>
                  <a:txBody>
                    <a:bodyPr/>
                    <a:lstStyle/>
                    <a:p>
                      <a:pPr indent="0" marL="0">
                        <a:buNone/>
                      </a:pPr>
                      <a:r>
                        <a:rPr lang="en-US" sz="1300" dirty="0">
                          <a:solidFill>
                            <a:srgbClr val="1A2B2E"/>
                          </a:solidFill>
                          <a:latin typeface="Calibri" pitchFamily="34" charset="0"/>
                          <a:ea typeface="Calibri" pitchFamily="34" charset="-122"/>
                          <a:cs typeface="Calibri" pitchFamily="34" charset="-120"/>
                        </a:rPr>
                        <a:t>SIFT + PolyPhen: deleterious</a:t>
                      </a:r>
                      <a:endParaRPr lang="en-US" sz="1300" dirty="0">
                        <a:latin typeface="Calibri" charset="0"/>
                        <a:ea typeface="Calibri" charset="0"/>
                        <a:cs typeface="Calibri" charset="0"/>
                      </a:endParaRPr>
                    </a:p>
                  </a:txBody>
                  <a:tcPr marL="91440" marR="91440" marT="45720" marB="45720" anchor="ctr">
                    <a:lnL w="12700" cap="flat" cmpd="sng" algn="ctr">
                      <a:solidFill>
                        <a:srgbClr val="D7E7E5"/>
                      </a:solidFill>
                      <a:prstDash val="solid"/>
                      <a:round/>
                      <a:headEnd type="none" w="med" len="med"/>
                      <a:tailEnd type="none" w="med" len="med"/>
                    </a:lnL>
                    <a:lnR w="12700" cap="flat" cmpd="sng" algn="ctr">
                      <a:solidFill>
                        <a:srgbClr val="D7E7E5"/>
                      </a:solidFill>
                      <a:prstDash val="solid"/>
                      <a:round/>
                      <a:headEnd type="none" w="med" len="med"/>
                      <a:tailEnd type="none" w="med" len="med"/>
                    </a:lnR>
                    <a:lnT w="12700" cap="flat" cmpd="sng" algn="ctr">
                      <a:solidFill>
                        <a:srgbClr val="D7E7E5"/>
                      </a:solidFill>
                      <a:prstDash val="solid"/>
                      <a:round/>
                      <a:headEnd type="none" w="med" len="med"/>
                      <a:tailEnd type="none" w="med" len="med"/>
                    </a:lnT>
                    <a:lnB w="12700" cap="flat" cmpd="sng" algn="ctr">
                      <a:solidFill>
                        <a:srgbClr val="D7E7E5"/>
                      </a:solidFill>
                      <a:prstDash val="solid"/>
                      <a:round/>
                      <a:headEnd type="none" w="med" len="med"/>
                      <a:tailEnd type="none" w="med" len="med"/>
                    </a:lnB>
                    <a:solidFill>
                      <a:srgbClr val="FFFFFF"/>
                    </a:solidFill>
                  </a:tcPr>
                </a:tc>
              </a:tr>
            </a:tbl>
          </a:graphicData>
        </a:graphic>
      </p:graphicFrame>
      <p:sp>
        <p:nvSpPr>
          <p:cNvPr id="7" name="Shape 4"/>
          <p:cNvSpPr/>
          <p:nvPr/>
        </p:nvSpPr>
        <p:spPr>
          <a:xfrm>
            <a:off x="731520" y="4343400"/>
            <a:ext cx="10698480" cy="1051560"/>
          </a:xfrm>
          <a:prstGeom prst="roundRect">
            <a:avLst>
              <a:gd name="adj" fmla="val 10435"/>
            </a:avLst>
          </a:prstGeom>
          <a:solidFill>
            <a:srgbClr val="D9F0EE"/>
          </a:solidFill>
          <a:ln/>
        </p:spPr>
      </p:sp>
      <p:sp>
        <p:nvSpPr>
          <p:cNvPr id="8" name="Text 5"/>
          <p:cNvSpPr txBox="1"/>
          <p:nvPr/>
        </p:nvSpPr>
        <p:spPr>
          <a:xfrm>
            <a:off x="1005840" y="4343400"/>
            <a:ext cx="10149840" cy="1051560"/>
          </a:xfrm>
          <a:prstGeom prst="rect">
            <a:avLst/>
          </a:prstGeom>
          <a:noFill/>
          <a:ln/>
        </p:spPr>
        <p:txBody>
          <a:bodyPr wrap="square" lIns="0" tIns="0" rIns="0" bIns="0" rtlCol="0" anchor="ctr"/>
          <a:lstStyle/>
          <a:p>
            <a:pPr algn="l" indent="0" marL="0">
              <a:buNone/>
            </a:pPr>
            <a:r>
              <a:rPr lang="en-US" sz="1500" b="1" dirty="0">
                <a:solidFill>
                  <a:srgbClr val="028090"/>
                </a:solidFill>
                <a:latin typeface="Calibri" pitchFamily="34" charset="0"/>
                <a:ea typeface="Calibri" pitchFamily="34" charset="-122"/>
                <a:cs typeface="Calibri" pitchFamily="34" charset="-120"/>
              </a:rPr>
              <a:t>Genotype: 0/1 + 0/1  →  </a:t>
            </a:r>
            <a:pPr algn="l" indent="0" marL="0">
              <a:buNone/>
            </a:pPr>
            <a:r>
              <a:rPr lang="en-US" sz="1500" dirty="0">
                <a:solidFill>
                  <a:srgbClr val="1A2B2E"/>
                </a:solidFill>
                <a:latin typeface="Calibri" pitchFamily="34" charset="0"/>
                <a:ea typeface="Calibri" pitchFamily="34" charset="-122"/>
                <a:cs typeface="Calibri" pitchFamily="34" charset="-120"/>
              </a:rPr>
              <a:t>compound heterozygote in trans (assumed; singleton WGS, no parental phasing)</a:t>
            </a:r>
            <a:endParaRPr lang="en-US" sz="1500" dirty="0"/>
          </a:p>
        </p:txBody>
      </p:sp>
      <p:sp>
        <p:nvSpPr>
          <p:cNvPr id="9" name="Text 6"/>
          <p:cNvSpPr txBox="1"/>
          <p:nvPr/>
        </p:nvSpPr>
        <p:spPr>
          <a:xfrm>
            <a:off x="731520" y="5623560"/>
            <a:ext cx="10698480" cy="457200"/>
          </a:xfrm>
          <a:prstGeom prst="rect">
            <a:avLst/>
          </a:prstGeom>
          <a:noFill/>
          <a:ln/>
        </p:spPr>
        <p:txBody>
          <a:bodyPr wrap="square" lIns="0" tIns="0" rIns="0" bIns="0" rtlCol="0" anchor="ctr"/>
          <a:lstStyle/>
          <a:p>
            <a:pPr algn="l" indent="0" marL="0">
              <a:buNone/>
            </a:pPr>
            <a:r>
              <a:rPr lang="en-US" sz="1300" i="1" dirty="0">
                <a:solidFill>
                  <a:srgbClr val="4E6367"/>
                </a:solidFill>
                <a:latin typeface="Calibri" pitchFamily="34" charset="0"/>
                <a:ea typeface="Calibri" pitchFamily="34" charset="-122"/>
                <a:cs typeface="Calibri" pitchFamily="34" charset="-120"/>
              </a:rPr>
              <a:t>BUB1B encodes BUBR1 — a core kinase of the mitotic spindle-assembly checkpoint (SAC)</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8090"/>
          </a:solidFill>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4" name="Text 2"/>
          <p:cNvSpPr txBox="1"/>
          <p:nvPr/>
        </p:nvSpPr>
        <p:spPr>
          <a:xfrm>
            <a:off x="1234440" y="438912"/>
            <a:ext cx="9601200" cy="594360"/>
          </a:xfrm>
          <a:prstGeom prst="rect">
            <a:avLst/>
          </a:prstGeom>
          <a:noFill/>
          <a:ln/>
        </p:spPr>
        <p:txBody>
          <a:bodyPr wrap="square" lIns="0" tIns="0" rIns="0" bIns="0" rtlCol="0" anchor="ctr"/>
          <a:lstStyle/>
          <a:p>
            <a:pPr algn="l" indent="0" marL="0">
              <a:buNone/>
            </a:pPr>
            <a:r>
              <a:rPr lang="en-US" sz="2800" b="1" dirty="0">
                <a:solidFill>
                  <a:srgbClr val="1A2B2E"/>
                </a:solidFill>
                <a:latin typeface="Cambria" pitchFamily="34" charset="0"/>
                <a:ea typeface="Cambria" pitchFamily="34" charset="-122"/>
                <a:cs typeface="Cambria" pitchFamily="34" charset="-120"/>
              </a:rPr>
              <a:t>How one broken checkpoint causes cancer</a:t>
            </a:r>
            <a:endParaRPr lang="en-US" sz="2800" dirty="0"/>
          </a:p>
        </p:txBody>
      </p:sp>
      <p:sp>
        <p:nvSpPr>
          <p:cNvPr id="5" name="Shape 3"/>
          <p:cNvSpPr/>
          <p:nvPr/>
        </p:nvSpPr>
        <p:spPr>
          <a:xfrm>
            <a:off x="731520" y="1325880"/>
            <a:ext cx="365760" cy="365760"/>
          </a:xfrm>
          <a:prstGeom prst="ellipse">
            <a:avLst/>
          </a:prstGeom>
          <a:solidFill>
            <a:srgbClr val="00A896"/>
          </a:solidFill>
          <a:ln/>
        </p:spPr>
      </p:sp>
      <p:sp>
        <p:nvSpPr>
          <p:cNvPr id="6" name="Text 4"/>
          <p:cNvSpPr txBox="1"/>
          <p:nvPr/>
        </p:nvSpPr>
        <p:spPr>
          <a:xfrm>
            <a:off x="731520" y="13258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34440" y="1252728"/>
            <a:ext cx="5074920" cy="512064"/>
          </a:xfrm>
          <a:prstGeom prst="rect">
            <a:avLst/>
          </a:prstGeom>
          <a:noFill/>
          <a:ln/>
        </p:spPr>
        <p:txBody>
          <a:bodyPr wrap="square" lIns="0" tIns="0" rIns="0" bIns="0" rtlCol="0" anchor="ctr"/>
          <a:lstStyle/>
          <a:p>
            <a:pPr algn="l" indent="0" marL="0">
              <a:buNone/>
            </a:pPr>
            <a:r>
              <a:rPr lang="en-US" sz="1400" dirty="0">
                <a:solidFill>
                  <a:srgbClr val="1A2B2E"/>
                </a:solidFill>
                <a:latin typeface="Calibri" pitchFamily="34" charset="0"/>
                <a:ea typeface="Calibri" pitchFamily="34" charset="-122"/>
                <a:cs typeface="Calibri" pitchFamily="34" charset="-120"/>
              </a:rPr>
              <a:t>BUB1B compound-het loss-of-function</a:t>
            </a:r>
            <a:endParaRPr lang="en-US" sz="1400" dirty="0"/>
          </a:p>
        </p:txBody>
      </p:sp>
      <p:sp>
        <p:nvSpPr>
          <p:cNvPr id="8" name="Text 6"/>
          <p:cNvSpPr txBox="1"/>
          <p:nvPr/>
        </p:nvSpPr>
        <p:spPr>
          <a:xfrm>
            <a:off x="886968" y="1673352"/>
            <a:ext cx="274320" cy="274320"/>
          </a:xfrm>
          <a:prstGeom prst="rect">
            <a:avLst/>
          </a:prstGeom>
          <a:noFill/>
          <a:ln/>
        </p:spPr>
        <p:txBody>
          <a:bodyPr wrap="square" lIns="0" tIns="0" rIns="0" bIns="0" rtlCol="0" anchor="ctr"/>
          <a:lstStyle/>
          <a:p>
            <a:pPr algn="ctr" indent="0" marL="0">
              <a:buNone/>
            </a:pPr>
            <a:r>
              <a:rPr lang="en-US" sz="1400" dirty="0">
                <a:solidFill>
                  <a:srgbClr val="4E6367"/>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731520" y="1984248"/>
            <a:ext cx="365760" cy="365760"/>
          </a:xfrm>
          <a:prstGeom prst="ellipse">
            <a:avLst/>
          </a:prstGeom>
          <a:solidFill>
            <a:srgbClr val="00A896"/>
          </a:solidFill>
          <a:ln/>
        </p:spPr>
      </p:sp>
      <p:sp>
        <p:nvSpPr>
          <p:cNvPr id="10" name="Text 8"/>
          <p:cNvSpPr txBox="1"/>
          <p:nvPr/>
        </p:nvSpPr>
        <p:spPr>
          <a:xfrm>
            <a:off x="731520" y="1984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34440" y="1911096"/>
            <a:ext cx="5074920" cy="512064"/>
          </a:xfrm>
          <a:prstGeom prst="rect">
            <a:avLst/>
          </a:prstGeom>
          <a:noFill/>
          <a:ln/>
        </p:spPr>
        <p:txBody>
          <a:bodyPr wrap="square" lIns="0" tIns="0" rIns="0" bIns="0" rtlCol="0" anchor="ctr"/>
          <a:lstStyle/>
          <a:p>
            <a:pPr algn="l" indent="0" marL="0">
              <a:buNone/>
            </a:pPr>
            <a:r>
              <a:rPr lang="en-US" sz="1400" dirty="0">
                <a:solidFill>
                  <a:srgbClr val="1A2B2E"/>
                </a:solidFill>
                <a:latin typeface="Calibri" pitchFamily="34" charset="0"/>
                <a:ea typeface="Calibri" pitchFamily="34" charset="-122"/>
                <a:cs typeface="Calibri" pitchFamily="34" charset="-120"/>
              </a:rPr>
              <a:t>Reduced BUBR1 dosage at the kinetochore</a:t>
            </a:r>
            <a:endParaRPr lang="en-US" sz="1400" dirty="0"/>
          </a:p>
        </p:txBody>
      </p:sp>
      <p:sp>
        <p:nvSpPr>
          <p:cNvPr id="12" name="Text 10"/>
          <p:cNvSpPr txBox="1"/>
          <p:nvPr/>
        </p:nvSpPr>
        <p:spPr>
          <a:xfrm>
            <a:off x="886968" y="2331720"/>
            <a:ext cx="274320" cy="274320"/>
          </a:xfrm>
          <a:prstGeom prst="rect">
            <a:avLst/>
          </a:prstGeom>
          <a:noFill/>
          <a:ln/>
        </p:spPr>
        <p:txBody>
          <a:bodyPr wrap="square" lIns="0" tIns="0" rIns="0" bIns="0" rtlCol="0" anchor="ctr"/>
          <a:lstStyle/>
          <a:p>
            <a:pPr algn="ctr" indent="0" marL="0">
              <a:buNone/>
            </a:pPr>
            <a:r>
              <a:rPr lang="en-US" sz="1400" dirty="0">
                <a:solidFill>
                  <a:srgbClr val="4E6367"/>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731520" y="2642616"/>
            <a:ext cx="365760" cy="365760"/>
          </a:xfrm>
          <a:prstGeom prst="ellipse">
            <a:avLst/>
          </a:prstGeom>
          <a:solidFill>
            <a:srgbClr val="00A896"/>
          </a:solidFill>
          <a:ln/>
        </p:spPr>
      </p:sp>
      <p:sp>
        <p:nvSpPr>
          <p:cNvPr id="14" name="Text 12"/>
          <p:cNvSpPr txBox="1"/>
          <p:nvPr/>
        </p:nvSpPr>
        <p:spPr>
          <a:xfrm>
            <a:off x="731520" y="26426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234440" y="2569464"/>
            <a:ext cx="5074920" cy="512064"/>
          </a:xfrm>
          <a:prstGeom prst="rect">
            <a:avLst/>
          </a:prstGeom>
          <a:noFill/>
          <a:ln/>
        </p:spPr>
        <p:txBody>
          <a:bodyPr wrap="square" lIns="0" tIns="0" rIns="0" bIns="0" rtlCol="0" anchor="ctr"/>
          <a:lstStyle/>
          <a:p>
            <a:pPr algn="l" indent="0" marL="0">
              <a:buNone/>
            </a:pPr>
            <a:r>
              <a:rPr lang="en-US" sz="1400" dirty="0">
                <a:solidFill>
                  <a:srgbClr val="1A2B2E"/>
                </a:solidFill>
                <a:latin typeface="Calibri" pitchFamily="34" charset="0"/>
                <a:ea typeface="Calibri" pitchFamily="34" charset="-122"/>
                <a:cs typeface="Calibri" pitchFamily="34" charset="-120"/>
              </a:rPr>
              <a:t>Weakened spindle-assembly checkpoint (SAC)</a:t>
            </a:r>
            <a:endParaRPr lang="en-US" sz="1400" dirty="0"/>
          </a:p>
        </p:txBody>
      </p:sp>
      <p:sp>
        <p:nvSpPr>
          <p:cNvPr id="16" name="Text 14"/>
          <p:cNvSpPr txBox="1"/>
          <p:nvPr/>
        </p:nvSpPr>
        <p:spPr>
          <a:xfrm>
            <a:off x="886968" y="2990088"/>
            <a:ext cx="274320" cy="274320"/>
          </a:xfrm>
          <a:prstGeom prst="rect">
            <a:avLst/>
          </a:prstGeom>
          <a:noFill/>
          <a:ln/>
        </p:spPr>
        <p:txBody>
          <a:bodyPr wrap="square" lIns="0" tIns="0" rIns="0" bIns="0" rtlCol="0" anchor="ctr"/>
          <a:lstStyle/>
          <a:p>
            <a:pPr algn="ctr" indent="0" marL="0">
              <a:buNone/>
            </a:pPr>
            <a:r>
              <a:rPr lang="en-US" sz="1400" dirty="0">
                <a:solidFill>
                  <a:srgbClr val="4E6367"/>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731520" y="3300984"/>
            <a:ext cx="365760" cy="365760"/>
          </a:xfrm>
          <a:prstGeom prst="ellipse">
            <a:avLst/>
          </a:prstGeom>
          <a:solidFill>
            <a:srgbClr val="00A896"/>
          </a:solidFill>
          <a:ln/>
        </p:spPr>
      </p:sp>
      <p:sp>
        <p:nvSpPr>
          <p:cNvPr id="18" name="Text 16"/>
          <p:cNvSpPr txBox="1"/>
          <p:nvPr/>
        </p:nvSpPr>
        <p:spPr>
          <a:xfrm>
            <a:off x="731520" y="3300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234440" y="3227832"/>
            <a:ext cx="5074920" cy="512064"/>
          </a:xfrm>
          <a:prstGeom prst="rect">
            <a:avLst/>
          </a:prstGeom>
          <a:noFill/>
          <a:ln/>
        </p:spPr>
        <p:txBody>
          <a:bodyPr wrap="square" lIns="0" tIns="0" rIns="0" bIns="0" rtlCol="0" anchor="ctr"/>
          <a:lstStyle/>
          <a:p>
            <a:pPr algn="l" indent="0" marL="0">
              <a:buNone/>
            </a:pPr>
            <a:r>
              <a:rPr lang="en-US" sz="1400" dirty="0">
                <a:solidFill>
                  <a:srgbClr val="1A2B2E"/>
                </a:solidFill>
                <a:latin typeface="Calibri" pitchFamily="34" charset="0"/>
                <a:ea typeface="Calibri" pitchFamily="34" charset="-122"/>
                <a:cs typeface="Calibri" pitchFamily="34" charset="-120"/>
              </a:rPr>
              <a:t>Premature chromatid separation</a:t>
            </a:r>
            <a:endParaRPr lang="en-US" sz="1400" dirty="0"/>
          </a:p>
        </p:txBody>
      </p:sp>
      <p:sp>
        <p:nvSpPr>
          <p:cNvPr id="20" name="Text 18"/>
          <p:cNvSpPr txBox="1"/>
          <p:nvPr/>
        </p:nvSpPr>
        <p:spPr>
          <a:xfrm>
            <a:off x="886968" y="3648456"/>
            <a:ext cx="274320" cy="274320"/>
          </a:xfrm>
          <a:prstGeom prst="rect">
            <a:avLst/>
          </a:prstGeom>
          <a:noFill/>
          <a:ln/>
        </p:spPr>
        <p:txBody>
          <a:bodyPr wrap="square" lIns="0" tIns="0" rIns="0" bIns="0" rtlCol="0" anchor="ctr"/>
          <a:lstStyle/>
          <a:p>
            <a:pPr algn="ctr" indent="0" marL="0">
              <a:buNone/>
            </a:pPr>
            <a:r>
              <a:rPr lang="en-US" sz="1400" dirty="0">
                <a:solidFill>
                  <a:srgbClr val="4E6367"/>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731520" y="3959352"/>
            <a:ext cx="365760" cy="365760"/>
          </a:xfrm>
          <a:prstGeom prst="ellipse">
            <a:avLst/>
          </a:prstGeom>
          <a:solidFill>
            <a:srgbClr val="00A896"/>
          </a:solidFill>
          <a:ln/>
        </p:spPr>
      </p:sp>
      <p:sp>
        <p:nvSpPr>
          <p:cNvPr id="22" name="Text 20"/>
          <p:cNvSpPr txBox="1"/>
          <p:nvPr/>
        </p:nvSpPr>
        <p:spPr>
          <a:xfrm>
            <a:off x="731520" y="3959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234440" y="3886200"/>
            <a:ext cx="5074920" cy="512064"/>
          </a:xfrm>
          <a:prstGeom prst="rect">
            <a:avLst/>
          </a:prstGeom>
          <a:noFill/>
          <a:ln/>
        </p:spPr>
        <p:txBody>
          <a:bodyPr wrap="square" lIns="0" tIns="0" rIns="0" bIns="0" rtlCol="0" anchor="ctr"/>
          <a:lstStyle/>
          <a:p>
            <a:pPr algn="l" indent="0" marL="0">
              <a:buNone/>
            </a:pPr>
            <a:r>
              <a:rPr lang="en-US" sz="1400" dirty="0">
                <a:solidFill>
                  <a:srgbClr val="1A2B2E"/>
                </a:solidFill>
                <a:latin typeface="Calibri" pitchFamily="34" charset="0"/>
                <a:ea typeface="Calibri" pitchFamily="34" charset="-122"/>
                <a:cs typeface="Calibri" pitchFamily="34" charset="-120"/>
              </a:rPr>
              <a:t>Chromosome mis-segregation → mosaic aneuploidy</a:t>
            </a:r>
            <a:endParaRPr lang="en-US" sz="1400" dirty="0"/>
          </a:p>
        </p:txBody>
      </p:sp>
      <p:sp>
        <p:nvSpPr>
          <p:cNvPr id="24" name="Text 22"/>
          <p:cNvSpPr txBox="1"/>
          <p:nvPr/>
        </p:nvSpPr>
        <p:spPr>
          <a:xfrm>
            <a:off x="886968" y="4306824"/>
            <a:ext cx="274320" cy="274320"/>
          </a:xfrm>
          <a:prstGeom prst="rect">
            <a:avLst/>
          </a:prstGeom>
          <a:noFill/>
          <a:ln/>
        </p:spPr>
        <p:txBody>
          <a:bodyPr wrap="square" lIns="0" tIns="0" rIns="0" bIns="0" rtlCol="0" anchor="ctr"/>
          <a:lstStyle/>
          <a:p>
            <a:pPr algn="ctr" indent="0" marL="0">
              <a:buNone/>
            </a:pPr>
            <a:r>
              <a:rPr lang="en-US" sz="1400" dirty="0">
                <a:solidFill>
                  <a:srgbClr val="4E6367"/>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731520" y="4617720"/>
            <a:ext cx="365760" cy="365760"/>
          </a:xfrm>
          <a:prstGeom prst="ellipse">
            <a:avLst/>
          </a:prstGeom>
          <a:solidFill>
            <a:srgbClr val="B3261E"/>
          </a:solidFill>
          <a:ln/>
        </p:spPr>
      </p:sp>
      <p:sp>
        <p:nvSpPr>
          <p:cNvPr id="26" name="Text 24"/>
          <p:cNvSpPr txBox="1"/>
          <p:nvPr/>
        </p:nvSpPr>
        <p:spPr>
          <a:xfrm>
            <a:off x="731520" y="46177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1234440" y="4544568"/>
            <a:ext cx="5074920" cy="512064"/>
          </a:xfrm>
          <a:prstGeom prst="rect">
            <a:avLst/>
          </a:prstGeom>
          <a:noFill/>
          <a:ln/>
        </p:spPr>
        <p:txBody>
          <a:bodyPr wrap="square" lIns="0" tIns="0" rIns="0" bIns="0" rtlCol="0" anchor="ctr"/>
          <a:lstStyle/>
          <a:p>
            <a:pPr algn="l" indent="0" marL="0">
              <a:buNone/>
            </a:pPr>
            <a:r>
              <a:rPr lang="en-US" sz="1400" dirty="0">
                <a:solidFill>
                  <a:srgbClr val="1A2B2E"/>
                </a:solidFill>
                <a:latin typeface="Calibri" pitchFamily="34" charset="0"/>
                <a:ea typeface="Calibri" pitchFamily="34" charset="-122"/>
                <a:cs typeface="Calibri" pitchFamily="34" charset="-120"/>
              </a:rPr>
              <a:t>Chromosomal instability → childhood cancer risk</a:t>
            </a:r>
            <a:endParaRPr lang="en-US" sz="1400" dirty="0"/>
          </a:p>
        </p:txBody>
      </p:sp>
      <p:pic>
        <p:nvPicPr>
          <p:cNvPr id="28" name="Image 0" descr="E:/2026 Escritorio/Hackaton 2025/Track 2/figures/bubr1_variants_structure.png">    </p:cNvPr>
          <p:cNvPicPr>
            <a:picLocks noChangeAspect="1"/>
          </p:cNvPicPr>
          <p:nvPr/>
        </p:nvPicPr>
        <p:blipFill>
          <a:blip r:embed="rId1"/>
          <a:stretch>
            <a:fillRect/>
          </a:stretch>
        </p:blipFill>
        <p:spPr>
          <a:xfrm>
            <a:off x="6675120" y="1234440"/>
            <a:ext cx="4937760" cy="4023360"/>
          </a:xfrm>
          <a:prstGeom prst="rect">
            <a:avLst/>
          </a:prstGeom>
        </p:spPr>
      </p:pic>
      <p:sp>
        <p:nvSpPr>
          <p:cNvPr id="29" name="Text 26"/>
          <p:cNvSpPr txBox="1"/>
          <p:nvPr/>
        </p:nvSpPr>
        <p:spPr>
          <a:xfrm>
            <a:off x="6675120" y="5303520"/>
            <a:ext cx="4937760" cy="548640"/>
          </a:xfrm>
          <a:prstGeom prst="rect">
            <a:avLst/>
          </a:prstGeom>
          <a:noFill/>
          <a:ln/>
        </p:spPr>
        <p:txBody>
          <a:bodyPr wrap="square" lIns="0" tIns="0" rIns="0" bIns="0" rtlCol="0" anchor="ctr"/>
          <a:lstStyle/>
          <a:p>
            <a:pPr algn="l" indent="0" marL="0">
              <a:buNone/>
            </a:pPr>
            <a:r>
              <a:rPr lang="en-US" sz="1050" i="1" dirty="0">
                <a:solidFill>
                  <a:srgbClr val="4E6367"/>
                </a:solidFill>
                <a:latin typeface="Calibri" pitchFamily="34" charset="0"/>
                <a:ea typeface="Calibri" pitchFamily="34" charset="-122"/>
                <a:cs typeface="Calibri" pitchFamily="34" charset="-120"/>
              </a:rPr>
              <a:t>AlphaFold model of BUBR1 — both variants (red) sit in confidently-predicted</a:t>
            </a:r>
            <a:endParaRPr lang="en-US" sz="1050" dirty="0"/>
          </a:p>
          <a:p>
            <a:pPr algn="l" indent="0" marL="0">
              <a:buNone/>
            </a:pPr>
            <a:r>
              <a:rPr lang="en-US" sz="1050" i="1" dirty="0">
                <a:solidFill>
                  <a:srgbClr val="4E6367"/>
                </a:solidFill>
                <a:latin typeface="Calibri" pitchFamily="34" charset="0"/>
                <a:ea typeface="Calibri" pitchFamily="34" charset="-122"/>
                <a:cs typeface="Calibri" pitchFamily="34" charset="-120"/>
              </a:rPr>
              <a:t>regions of the C-terminal pseudokinase domain</a:t>
            </a:r>
            <a:endParaRPr lang="en-US" sz="1050" dirty="0"/>
          </a:p>
        </p:txBody>
      </p:sp>
      <p:sp>
        <p:nvSpPr>
          <p:cNvPr id="30" name="Shape 27"/>
          <p:cNvSpPr/>
          <p:nvPr/>
        </p:nvSpPr>
        <p:spPr>
          <a:xfrm>
            <a:off x="731520" y="5897880"/>
            <a:ext cx="5577840" cy="685800"/>
          </a:xfrm>
          <a:prstGeom prst="roundRect">
            <a:avLst>
              <a:gd name="adj" fmla="val 13333"/>
            </a:avLst>
          </a:prstGeom>
          <a:solidFill>
            <a:srgbClr val="F2F9F8"/>
          </a:solidFill>
          <a:ln/>
        </p:spPr>
      </p:sp>
      <p:sp>
        <p:nvSpPr>
          <p:cNvPr id="31" name="Text 28"/>
          <p:cNvSpPr txBox="1"/>
          <p:nvPr/>
        </p:nvSpPr>
        <p:spPr>
          <a:xfrm>
            <a:off x="914400" y="5897880"/>
            <a:ext cx="5212080" cy="685800"/>
          </a:xfrm>
          <a:prstGeom prst="rect">
            <a:avLst/>
          </a:prstGeom>
          <a:noFill/>
          <a:ln/>
        </p:spPr>
        <p:txBody>
          <a:bodyPr wrap="square" lIns="0" tIns="0" rIns="0" bIns="0" rtlCol="0" anchor="ctr"/>
          <a:lstStyle/>
          <a:p>
            <a:pPr algn="l" indent="0" marL="0">
              <a:buNone/>
            </a:pPr>
            <a:r>
              <a:rPr lang="en-US" sz="1150" dirty="0">
                <a:solidFill>
                  <a:srgbClr val="1A2B2E"/>
                </a:solidFill>
                <a:latin typeface="Calibri" pitchFamily="34" charset="0"/>
                <a:ea typeface="Calibri" pitchFamily="34" charset="-122"/>
                <a:cs typeface="Calibri" pitchFamily="34" charset="-120"/>
              </a:rPr>
              <a:t>Independently confirmed via STRING + Reactome: BUB1B sits at the center of exactly this checkpoint module.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8090"/>
          </a:solidFill>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4" name="Text 2"/>
          <p:cNvSpPr txBox="1"/>
          <p:nvPr/>
        </p:nvSpPr>
        <p:spPr>
          <a:xfrm>
            <a:off x="1234440" y="365760"/>
            <a:ext cx="9601200" cy="548640"/>
          </a:xfrm>
          <a:prstGeom prst="rect">
            <a:avLst/>
          </a:prstGeom>
          <a:noFill/>
          <a:ln/>
        </p:spPr>
        <p:txBody>
          <a:bodyPr wrap="square" lIns="0" tIns="0" rIns="0" bIns="0" rtlCol="0" anchor="ctr"/>
          <a:lstStyle/>
          <a:p>
            <a:pPr algn="l" indent="0" marL="0">
              <a:buNone/>
            </a:pPr>
            <a:r>
              <a:rPr lang="en-US" sz="2800" b="1" dirty="0">
                <a:solidFill>
                  <a:srgbClr val="1A2B2E"/>
                </a:solidFill>
                <a:latin typeface="Cambria" pitchFamily="34" charset="0"/>
                <a:ea typeface="Cambria" pitchFamily="34" charset="-122"/>
                <a:cs typeface="Cambria" pitchFamily="34" charset="-120"/>
              </a:rPr>
              <a:t>Two approved drugs, one rationale</a:t>
            </a:r>
            <a:endParaRPr lang="en-US" sz="2800" dirty="0"/>
          </a:p>
        </p:txBody>
      </p:sp>
      <p:sp>
        <p:nvSpPr>
          <p:cNvPr id="5" name="Text 3"/>
          <p:cNvSpPr txBox="1"/>
          <p:nvPr/>
        </p:nvSpPr>
        <p:spPr>
          <a:xfrm>
            <a:off x="1234440" y="896112"/>
            <a:ext cx="9601200" cy="365760"/>
          </a:xfrm>
          <a:prstGeom prst="rect">
            <a:avLst/>
          </a:prstGeom>
          <a:noFill/>
          <a:ln/>
        </p:spPr>
        <p:txBody>
          <a:bodyPr wrap="square" lIns="0" tIns="0" rIns="0" bIns="0" rtlCol="0" anchor="ctr"/>
          <a:lstStyle/>
          <a:p>
            <a:pPr algn="l" indent="0" marL="0">
              <a:buNone/>
            </a:pPr>
            <a:r>
              <a:rPr lang="en-US" sz="1400" dirty="0">
                <a:solidFill>
                  <a:srgbClr val="4E6367"/>
                </a:solidFill>
                <a:latin typeface="Calibri" pitchFamily="34" charset="0"/>
                <a:ea typeface="Calibri" pitchFamily="34" charset="-122"/>
                <a:cs typeface="Calibri" pitchFamily="34" charset="-120"/>
              </a:rPr>
              <a:t>Exploit the checkpoint weakness — don't deepen it</a:t>
            </a:r>
            <a:endParaRPr lang="en-US" sz="1400" dirty="0"/>
          </a:p>
        </p:txBody>
      </p:sp>
      <p:sp>
        <p:nvSpPr>
          <p:cNvPr id="6" name="Shape 4"/>
          <p:cNvSpPr/>
          <p:nvPr/>
        </p:nvSpPr>
        <p:spPr>
          <a:xfrm>
            <a:off x="731520" y="1508760"/>
            <a:ext cx="5212080" cy="3657600"/>
          </a:xfrm>
          <a:prstGeom prst="roundRect">
            <a:avLst>
              <a:gd name="adj" fmla="val 3000"/>
            </a:avLst>
          </a:prstGeom>
          <a:solidFill>
            <a:srgbClr val="F2F9F8"/>
          </a:solidFill>
          <a:ln/>
          <a:effectLst>
            <a:outerShdw sx="100000" sy="100000" kx="0" ky="0" algn="bl" rotWithShape="0" blurRad="76200" dist="25400" dir="5400000">
              <a:srgbClr val="9CB8B5">
                <a:alpha val="35000"/>
              </a:srgbClr>
            </a:outerShdw>
          </a:effectLst>
        </p:spPr>
      </p:sp>
      <p:sp>
        <p:nvSpPr>
          <p:cNvPr id="7" name="Text 5"/>
          <p:cNvSpPr txBox="1"/>
          <p:nvPr/>
        </p:nvSpPr>
        <p:spPr>
          <a:xfrm>
            <a:off x="1051560" y="1737360"/>
            <a:ext cx="4572000" cy="502920"/>
          </a:xfrm>
          <a:prstGeom prst="rect">
            <a:avLst/>
          </a:prstGeom>
          <a:noFill/>
          <a:ln/>
        </p:spPr>
        <p:txBody>
          <a:bodyPr wrap="square" lIns="0" tIns="0" rIns="0" bIns="0" rtlCol="0" anchor="ctr"/>
          <a:lstStyle/>
          <a:p>
            <a:pPr algn="l" indent="0" marL="0">
              <a:buNone/>
            </a:pPr>
            <a:r>
              <a:rPr lang="en-US" sz="2200" b="1" dirty="0">
                <a:solidFill>
                  <a:srgbClr val="028090"/>
                </a:solidFill>
                <a:latin typeface="Cambria" pitchFamily="34" charset="0"/>
                <a:ea typeface="Cambria" pitchFamily="34" charset="-122"/>
                <a:cs typeface="Cambria" pitchFamily="34" charset="-120"/>
              </a:rPr>
              <a:t>Bosutinib</a:t>
            </a:r>
            <a:endParaRPr lang="en-US" sz="2200" dirty="0"/>
          </a:p>
        </p:txBody>
      </p:sp>
      <p:sp>
        <p:nvSpPr>
          <p:cNvPr id="8" name="Text 6"/>
          <p:cNvSpPr txBox="1"/>
          <p:nvPr/>
        </p:nvSpPr>
        <p:spPr>
          <a:xfrm>
            <a:off x="1051560" y="2240280"/>
            <a:ext cx="4572000" cy="502920"/>
          </a:xfrm>
          <a:prstGeom prst="rect">
            <a:avLst/>
          </a:prstGeom>
          <a:noFill/>
          <a:ln/>
        </p:spPr>
        <p:txBody>
          <a:bodyPr wrap="square" lIns="0" tIns="0" rIns="0" bIns="0" rtlCol="0" anchor="t"/>
          <a:lstStyle/>
          <a:p>
            <a:pPr algn="l" indent="0" marL="0">
              <a:buNone/>
            </a:pPr>
            <a:r>
              <a:rPr lang="en-US" sz="1150" b="1" dirty="0">
                <a:solidFill>
                  <a:srgbClr val="00A896"/>
                </a:solidFill>
                <a:latin typeface="Calibri" pitchFamily="34" charset="0"/>
                <a:ea typeface="Calibri" pitchFamily="34" charset="-122"/>
                <a:cs typeface="Calibri" pitchFamily="34" charset="-120"/>
              </a:rPr>
              <a:t>FDA-approved 2012 • chronic myeloid leukemia</a:t>
            </a:r>
            <a:endParaRPr lang="en-US" sz="1150" dirty="0"/>
          </a:p>
        </p:txBody>
      </p:sp>
      <p:sp>
        <p:nvSpPr>
          <p:cNvPr id="9" name="Text 7"/>
          <p:cNvSpPr txBox="1"/>
          <p:nvPr/>
        </p:nvSpPr>
        <p:spPr>
          <a:xfrm>
            <a:off x="1051560" y="2880360"/>
            <a:ext cx="4572000" cy="1234440"/>
          </a:xfrm>
          <a:prstGeom prst="rect">
            <a:avLst/>
          </a:prstGeom>
          <a:noFill/>
          <a:ln/>
        </p:spPr>
        <p:txBody>
          <a:bodyPr wrap="square" lIns="0" tIns="0" rIns="0" bIns="0" rtlCol="0" anchor="t"/>
          <a:lstStyle/>
          <a:p>
            <a:pPr algn="l" indent="0" marL="0">
              <a:buNone/>
            </a:pPr>
            <a:r>
              <a:rPr lang="en-US" sz="1300" b="1" dirty="0">
                <a:solidFill>
                  <a:srgbClr val="1A2B2E"/>
                </a:solidFill>
                <a:latin typeface="Calibri" pitchFamily="34" charset="0"/>
                <a:ea typeface="Calibri" pitchFamily="34" charset="-122"/>
                <a:cs typeface="Calibri" pitchFamily="34" charset="-120"/>
              </a:rPr>
              <a:t>Mechanism: </a:t>
            </a:r>
            <a:pPr algn="l" indent="0" marL="0">
              <a:buNone/>
            </a:pPr>
            <a:r>
              <a:rPr lang="en-US" sz="1300" dirty="0">
                <a:solidFill>
                  <a:srgbClr val="1A2B2E"/>
                </a:solidFill>
                <a:latin typeface="Calibri" pitchFamily="34" charset="0"/>
                <a:ea typeface="Calibri" pitchFamily="34" charset="-122"/>
                <a:cs typeface="Calibri" pitchFamily="34" charset="-120"/>
              </a:rPr>
              <a:t>Src-kinase inhibitor. Selectively toxic to cells with a defective spindle-assembly checkpoint.</a:t>
            </a:r>
            <a:endParaRPr lang="en-US" sz="1300" dirty="0"/>
          </a:p>
        </p:txBody>
      </p:sp>
      <p:sp>
        <p:nvSpPr>
          <p:cNvPr id="10" name="Text 8"/>
          <p:cNvSpPr txBox="1"/>
          <p:nvPr/>
        </p:nvSpPr>
        <p:spPr>
          <a:xfrm>
            <a:off x="1051560" y="4297680"/>
            <a:ext cx="4572000" cy="731520"/>
          </a:xfrm>
          <a:prstGeom prst="rect">
            <a:avLst/>
          </a:prstGeom>
          <a:noFill/>
          <a:ln/>
        </p:spPr>
        <p:txBody>
          <a:bodyPr wrap="square" lIns="0" tIns="0" rIns="0" bIns="0" rtlCol="0" anchor="t"/>
          <a:lstStyle/>
          <a:p>
            <a:pPr algn="l" indent="0" marL="0">
              <a:buNone/>
            </a:pPr>
            <a:r>
              <a:rPr lang="en-US" sz="1100" i="1" dirty="0">
                <a:solidFill>
                  <a:srgbClr val="4E6367"/>
                </a:solidFill>
                <a:latin typeface="Calibri" pitchFamily="34" charset="0"/>
                <a:ea typeface="Calibri" pitchFamily="34" charset="-122"/>
                <a:cs typeface="Calibri" pitchFamily="34" charset="-120"/>
              </a:rPr>
              <a:t>Schukken et al. 2020, Life Sci Alliance</a:t>
            </a:r>
            <a:endParaRPr lang="en-US" sz="1100" dirty="0"/>
          </a:p>
        </p:txBody>
      </p:sp>
      <p:sp>
        <p:nvSpPr>
          <p:cNvPr id="11" name="Shape 9"/>
          <p:cNvSpPr/>
          <p:nvPr/>
        </p:nvSpPr>
        <p:spPr>
          <a:xfrm>
            <a:off x="6217920" y="1508760"/>
            <a:ext cx="5212080" cy="3657600"/>
          </a:xfrm>
          <a:prstGeom prst="roundRect">
            <a:avLst>
              <a:gd name="adj" fmla="val 3000"/>
            </a:avLst>
          </a:prstGeom>
          <a:solidFill>
            <a:srgbClr val="F2F9F8"/>
          </a:solidFill>
          <a:ln/>
          <a:effectLst>
            <a:outerShdw sx="100000" sy="100000" kx="0" ky="0" algn="bl" rotWithShape="0" blurRad="76200" dist="25400" dir="5400000">
              <a:srgbClr val="9CB8B5">
                <a:alpha val="35000"/>
              </a:srgbClr>
            </a:outerShdw>
          </a:effectLst>
        </p:spPr>
      </p:sp>
      <p:sp>
        <p:nvSpPr>
          <p:cNvPr id="12" name="Text 10"/>
          <p:cNvSpPr txBox="1"/>
          <p:nvPr/>
        </p:nvSpPr>
        <p:spPr>
          <a:xfrm>
            <a:off x="6537960" y="1737360"/>
            <a:ext cx="4572000" cy="502920"/>
          </a:xfrm>
          <a:prstGeom prst="rect">
            <a:avLst/>
          </a:prstGeom>
          <a:noFill/>
          <a:ln/>
        </p:spPr>
        <p:txBody>
          <a:bodyPr wrap="square" lIns="0" tIns="0" rIns="0" bIns="0" rtlCol="0" anchor="ctr"/>
          <a:lstStyle/>
          <a:p>
            <a:pPr algn="l" indent="0" marL="0">
              <a:buNone/>
            </a:pPr>
            <a:r>
              <a:rPr lang="en-US" sz="2200" b="1" dirty="0">
                <a:solidFill>
                  <a:srgbClr val="028090"/>
                </a:solidFill>
                <a:latin typeface="Cambria" pitchFamily="34" charset="0"/>
                <a:ea typeface="Cambria" pitchFamily="34" charset="-122"/>
                <a:cs typeface="Cambria" pitchFamily="34" charset="-120"/>
              </a:rPr>
              <a:t>Metformin</a:t>
            </a:r>
            <a:endParaRPr lang="en-US" sz="2200" dirty="0"/>
          </a:p>
        </p:txBody>
      </p:sp>
      <p:sp>
        <p:nvSpPr>
          <p:cNvPr id="13" name="Text 11"/>
          <p:cNvSpPr txBox="1"/>
          <p:nvPr/>
        </p:nvSpPr>
        <p:spPr>
          <a:xfrm>
            <a:off x="6537960" y="2240280"/>
            <a:ext cx="4572000" cy="502920"/>
          </a:xfrm>
          <a:prstGeom prst="rect">
            <a:avLst/>
          </a:prstGeom>
          <a:noFill/>
          <a:ln/>
        </p:spPr>
        <p:txBody>
          <a:bodyPr wrap="square" lIns="0" tIns="0" rIns="0" bIns="0" rtlCol="0" anchor="t"/>
          <a:lstStyle/>
          <a:p>
            <a:pPr algn="l" indent="0" marL="0">
              <a:buNone/>
            </a:pPr>
            <a:r>
              <a:rPr lang="en-US" sz="1150" b="1" dirty="0">
                <a:solidFill>
                  <a:srgbClr val="00A896"/>
                </a:solidFill>
                <a:latin typeface="Calibri" pitchFamily="34" charset="0"/>
                <a:ea typeface="Calibri" pitchFamily="34" charset="-122"/>
                <a:cs typeface="Calibri" pitchFamily="34" charset="-120"/>
              </a:rPr>
              <a:t>FDA-approved 1995 • type 2 diabetes</a:t>
            </a:r>
            <a:endParaRPr lang="en-US" sz="1150" dirty="0"/>
          </a:p>
        </p:txBody>
      </p:sp>
      <p:sp>
        <p:nvSpPr>
          <p:cNvPr id="14" name="Text 12"/>
          <p:cNvSpPr txBox="1"/>
          <p:nvPr/>
        </p:nvSpPr>
        <p:spPr>
          <a:xfrm>
            <a:off x="6537960" y="2880360"/>
            <a:ext cx="4572000" cy="1234440"/>
          </a:xfrm>
          <a:prstGeom prst="rect">
            <a:avLst/>
          </a:prstGeom>
          <a:noFill/>
          <a:ln/>
        </p:spPr>
        <p:txBody>
          <a:bodyPr wrap="square" lIns="0" tIns="0" rIns="0" bIns="0" rtlCol="0" anchor="t"/>
          <a:lstStyle/>
          <a:p>
            <a:pPr algn="l" indent="0" marL="0">
              <a:buNone/>
            </a:pPr>
            <a:r>
              <a:rPr lang="en-US" sz="1300" b="1" dirty="0">
                <a:solidFill>
                  <a:srgbClr val="1A2B2E"/>
                </a:solidFill>
                <a:latin typeface="Calibri" pitchFamily="34" charset="0"/>
                <a:ea typeface="Calibri" pitchFamily="34" charset="-122"/>
                <a:cs typeface="Calibri" pitchFamily="34" charset="-120"/>
              </a:rPr>
              <a:t>Mechanism: </a:t>
            </a:r>
            <a:pPr algn="l" indent="0" marL="0">
              <a:buNone/>
            </a:pPr>
            <a:r>
              <a:rPr lang="en-US" sz="1300" dirty="0">
                <a:solidFill>
                  <a:srgbClr val="1A2B2E"/>
                </a:solidFill>
                <a:latin typeface="Calibri" pitchFamily="34" charset="0"/>
                <a:ea typeface="Calibri" pitchFamily="34" charset="-122"/>
                <a:cs typeface="Calibri" pitchFamily="34" charset="-120"/>
              </a:rPr>
              <a:t>AMPK activator. Selectively stresses aneuploid cells through energy/proteotoxic stress.</a:t>
            </a:r>
            <a:endParaRPr lang="en-US" sz="1300" dirty="0"/>
          </a:p>
        </p:txBody>
      </p:sp>
      <p:sp>
        <p:nvSpPr>
          <p:cNvPr id="15" name="Text 13"/>
          <p:cNvSpPr txBox="1"/>
          <p:nvPr/>
        </p:nvSpPr>
        <p:spPr>
          <a:xfrm>
            <a:off x="6537960" y="4297680"/>
            <a:ext cx="4572000" cy="731520"/>
          </a:xfrm>
          <a:prstGeom prst="rect">
            <a:avLst/>
          </a:prstGeom>
          <a:noFill/>
          <a:ln/>
        </p:spPr>
        <p:txBody>
          <a:bodyPr wrap="square" lIns="0" tIns="0" rIns="0" bIns="0" rtlCol="0" anchor="t"/>
          <a:lstStyle/>
          <a:p>
            <a:pPr algn="l" indent="0" marL="0">
              <a:buNone/>
            </a:pPr>
            <a:r>
              <a:rPr lang="en-US" sz="1100" i="1" dirty="0">
                <a:solidFill>
                  <a:srgbClr val="4E6367"/>
                </a:solidFill>
                <a:latin typeface="Calibri" pitchFamily="34" charset="0"/>
                <a:ea typeface="Calibri" pitchFamily="34" charset="-122"/>
                <a:cs typeface="Calibri" pitchFamily="34" charset="-120"/>
              </a:rPr>
              <a:t>Tang et al. 2011, Cell</a:t>
            </a:r>
            <a:endParaRPr lang="en-US" sz="1100" dirty="0"/>
          </a:p>
        </p:txBody>
      </p:sp>
      <p:sp>
        <p:nvSpPr>
          <p:cNvPr id="16" name="Shape 14"/>
          <p:cNvSpPr/>
          <p:nvPr/>
        </p:nvSpPr>
        <p:spPr>
          <a:xfrm>
            <a:off x="731520" y="5440680"/>
            <a:ext cx="10698480" cy="960120"/>
          </a:xfrm>
          <a:prstGeom prst="roundRect">
            <a:avLst>
              <a:gd name="adj" fmla="val 9524"/>
            </a:avLst>
          </a:prstGeom>
          <a:solidFill>
            <a:srgbClr val="FCEFEA"/>
          </a:solidFill>
          <a:ln/>
        </p:spPr>
      </p:sp>
      <p:sp>
        <p:nvSpPr>
          <p:cNvPr id="17" name="Text 15"/>
          <p:cNvSpPr txBox="1"/>
          <p:nvPr/>
        </p:nvSpPr>
        <p:spPr>
          <a:xfrm>
            <a:off x="1005840" y="5440680"/>
            <a:ext cx="10149840" cy="960120"/>
          </a:xfrm>
          <a:prstGeom prst="rect">
            <a:avLst/>
          </a:prstGeom>
          <a:noFill/>
          <a:ln/>
        </p:spPr>
        <p:txBody>
          <a:bodyPr wrap="square" lIns="0" tIns="0" rIns="0" bIns="0" rtlCol="0" anchor="ctr"/>
          <a:lstStyle/>
          <a:p>
            <a:pPr algn="l" indent="0" marL="0">
              <a:buNone/>
            </a:pPr>
            <a:r>
              <a:rPr lang="en-US" sz="1300" b="1" dirty="0">
                <a:solidFill>
                  <a:srgbClr val="B3261E"/>
                </a:solidFill>
                <a:latin typeface="Calibri" pitchFamily="34" charset="0"/>
                <a:ea typeface="Calibri" pitchFamily="34" charset="-122"/>
                <a:cs typeface="Calibri" pitchFamily="34" charset="-120"/>
              </a:rPr>
              <a:t>Explicitly excluded: </a:t>
            </a:r>
            <a:pPr algn="l" indent="0" marL="0">
              <a:buNone/>
            </a:pPr>
            <a:r>
              <a:rPr lang="en-US" sz="1300" dirty="0">
                <a:solidFill>
                  <a:srgbClr val="1A2B2E"/>
                </a:solidFill>
                <a:latin typeface="Calibri" pitchFamily="34" charset="0"/>
                <a:ea typeface="Calibri" pitchFamily="34" charset="-122"/>
                <a:cs typeface="Calibri" pitchFamily="34" charset="-120"/>
              </a:rPr>
              <a:t>further checkpoint inhibitors (MPS1/BUB1 inhibitors in oncology development) — the wrong direction for a patient whose checkpoint is already weakened.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8090"/>
          </a:solidFill>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 name="Text 2"/>
          <p:cNvSpPr txBox="1"/>
          <p:nvPr/>
        </p:nvSpPr>
        <p:spPr>
          <a:xfrm>
            <a:off x="1234440" y="438912"/>
            <a:ext cx="9601200" cy="594360"/>
          </a:xfrm>
          <a:prstGeom prst="rect">
            <a:avLst/>
          </a:prstGeom>
          <a:noFill/>
          <a:ln/>
        </p:spPr>
        <p:txBody>
          <a:bodyPr wrap="square" lIns="0" tIns="0" rIns="0" bIns="0" rtlCol="0" anchor="ctr"/>
          <a:lstStyle/>
          <a:p>
            <a:pPr algn="l" indent="0" marL="0">
              <a:buNone/>
            </a:pPr>
            <a:r>
              <a:rPr lang="en-US" sz="2800" b="1" dirty="0">
                <a:solidFill>
                  <a:srgbClr val="1A2B2E"/>
                </a:solidFill>
                <a:latin typeface="Cambria" pitchFamily="34" charset="0"/>
                <a:ea typeface="Cambria" pitchFamily="34" charset="-122"/>
                <a:cs typeface="Cambria" pitchFamily="34" charset="-120"/>
              </a:rPr>
              <a:t>Not a guess — a solved structure</a:t>
            </a:r>
            <a:endParaRPr lang="en-US" sz="2800" dirty="0"/>
          </a:p>
        </p:txBody>
      </p:sp>
      <p:sp>
        <p:nvSpPr>
          <p:cNvPr id="5" name="Text 3"/>
          <p:cNvSpPr txBox="1"/>
          <p:nvPr/>
        </p:nvSpPr>
        <p:spPr>
          <a:xfrm>
            <a:off x="1234440" y="960120"/>
            <a:ext cx="9601200" cy="365760"/>
          </a:xfrm>
          <a:prstGeom prst="rect">
            <a:avLst/>
          </a:prstGeom>
          <a:noFill/>
          <a:ln/>
        </p:spPr>
        <p:txBody>
          <a:bodyPr wrap="square" lIns="0" tIns="0" rIns="0" bIns="0" rtlCol="0" anchor="ctr"/>
          <a:lstStyle/>
          <a:p>
            <a:pPr algn="l" indent="0" marL="0">
              <a:buNone/>
            </a:pPr>
            <a:r>
              <a:rPr lang="en-US" sz="1400" dirty="0">
                <a:solidFill>
                  <a:srgbClr val="4E6367"/>
                </a:solidFill>
                <a:latin typeface="Calibri" pitchFamily="34" charset="0"/>
                <a:ea typeface="Calibri" pitchFamily="34" charset="-122"/>
                <a:cs typeface="Calibri" pitchFamily="34" charset="-120"/>
              </a:rPr>
              <a:t>Confirming target engagement experimentally, not by prediction</a:t>
            </a:r>
            <a:endParaRPr lang="en-US" sz="1400" dirty="0"/>
          </a:p>
        </p:txBody>
      </p:sp>
      <p:pic>
        <p:nvPicPr>
          <p:cNvPr id="6" name="Image 0" descr="E:/2026 Escritorio/Hackaton 2025/Track 2/figures/bosutinib_src_cocrystal.png">    </p:cNvPr>
          <p:cNvPicPr>
            <a:picLocks noChangeAspect="1"/>
          </p:cNvPicPr>
          <p:nvPr/>
        </p:nvPicPr>
        <p:blipFill>
          <a:blip r:embed="rId1"/>
          <a:stretch>
            <a:fillRect/>
          </a:stretch>
        </p:blipFill>
        <p:spPr>
          <a:xfrm>
            <a:off x="640080" y="1463040"/>
            <a:ext cx="6035040" cy="4937760"/>
          </a:xfrm>
          <a:prstGeom prst="rect">
            <a:avLst/>
          </a:prstGeom>
        </p:spPr>
      </p:pic>
      <p:sp>
        <p:nvSpPr>
          <p:cNvPr id="7" name="Shape 4"/>
          <p:cNvSpPr/>
          <p:nvPr/>
        </p:nvSpPr>
        <p:spPr>
          <a:xfrm>
            <a:off x="7040880" y="1600200"/>
            <a:ext cx="384048" cy="384048"/>
          </a:xfrm>
          <a:prstGeom prst="ellipse">
            <a:avLst/>
          </a:prstGeom>
          <a:solidFill>
            <a:srgbClr val="00A896"/>
          </a:solidFill>
          <a:ln/>
        </p:spPr>
      </p:sp>
      <p:sp>
        <p:nvSpPr>
          <p:cNvPr id="8" name="Text 5"/>
          <p:cNvSpPr txBox="1"/>
          <p:nvPr/>
        </p:nvSpPr>
        <p:spPr>
          <a:xfrm>
            <a:off x="7040880" y="1600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6"/>
          <p:cNvSpPr txBox="1"/>
          <p:nvPr/>
        </p:nvSpPr>
        <p:spPr>
          <a:xfrm>
            <a:off x="7589520" y="1554480"/>
            <a:ext cx="4114800" cy="411480"/>
          </a:xfrm>
          <a:prstGeom prst="rect">
            <a:avLst/>
          </a:prstGeom>
          <a:noFill/>
          <a:ln/>
        </p:spPr>
        <p:txBody>
          <a:bodyPr wrap="square" lIns="0" tIns="0" rIns="0" bIns="0" rtlCol="0" anchor="ctr"/>
          <a:lstStyle/>
          <a:p>
            <a:pPr algn="l" indent="0" marL="0">
              <a:buNone/>
            </a:pPr>
            <a:r>
              <a:rPr lang="en-US" sz="1500" b="1" dirty="0">
                <a:solidFill>
                  <a:srgbClr val="1A2B2E"/>
                </a:solidFill>
                <a:latin typeface="Calibri" pitchFamily="34" charset="0"/>
                <a:ea typeface="Calibri" pitchFamily="34" charset="-122"/>
                <a:cs typeface="Calibri" pitchFamily="34" charset="-120"/>
              </a:rPr>
              <a:t>PDB 4MXO</a:t>
            </a:r>
            <a:endParaRPr lang="en-US" sz="1500" dirty="0"/>
          </a:p>
        </p:txBody>
      </p:sp>
      <p:sp>
        <p:nvSpPr>
          <p:cNvPr id="10" name="Text 7"/>
          <p:cNvSpPr txBox="1"/>
          <p:nvPr/>
        </p:nvSpPr>
        <p:spPr>
          <a:xfrm>
            <a:off x="7589520" y="1984248"/>
            <a:ext cx="4114800" cy="914400"/>
          </a:xfrm>
          <a:prstGeom prst="rect">
            <a:avLst/>
          </a:prstGeom>
          <a:noFill/>
          <a:ln/>
        </p:spPr>
        <p:txBody>
          <a:bodyPr wrap="square" lIns="0" tIns="0" rIns="0" bIns="0" rtlCol="0" anchor="ctr"/>
          <a:lstStyle/>
          <a:p>
            <a:pPr algn="l" indent="0" marL="0">
              <a:buNone/>
            </a:pPr>
            <a:r>
              <a:rPr lang="en-US" sz="1250" dirty="0">
                <a:solidFill>
                  <a:srgbClr val="4E6367"/>
                </a:solidFill>
                <a:latin typeface="Calibri" pitchFamily="34" charset="0"/>
                <a:ea typeface="Calibri" pitchFamily="34" charset="-122"/>
                <a:cs typeface="Calibri" pitchFamily="34" charset="-120"/>
              </a:rPr>
              <a:t>Human Src kinase, experimentally solved bound to bosutinib — not a computational docking prediction.</a:t>
            </a:r>
            <a:endParaRPr lang="en-US" sz="1250" dirty="0"/>
          </a:p>
        </p:txBody>
      </p:sp>
      <p:sp>
        <p:nvSpPr>
          <p:cNvPr id="11" name="Shape 8"/>
          <p:cNvSpPr/>
          <p:nvPr/>
        </p:nvSpPr>
        <p:spPr>
          <a:xfrm>
            <a:off x="7040880" y="3063240"/>
            <a:ext cx="384048" cy="384048"/>
          </a:xfrm>
          <a:prstGeom prst="ellipse">
            <a:avLst/>
          </a:prstGeom>
          <a:solidFill>
            <a:srgbClr val="00A896"/>
          </a:solidFill>
          <a:ln/>
        </p:spPr>
      </p:sp>
      <p:sp>
        <p:nvSpPr>
          <p:cNvPr id="12" name="Text 9"/>
          <p:cNvSpPr txBox="1"/>
          <p:nvPr/>
        </p:nvSpPr>
        <p:spPr>
          <a:xfrm>
            <a:off x="7040880" y="3063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0"/>
          <p:cNvSpPr txBox="1"/>
          <p:nvPr/>
        </p:nvSpPr>
        <p:spPr>
          <a:xfrm>
            <a:off x="7589520" y="3017520"/>
            <a:ext cx="4114800" cy="411480"/>
          </a:xfrm>
          <a:prstGeom prst="rect">
            <a:avLst/>
          </a:prstGeom>
          <a:noFill/>
          <a:ln/>
        </p:spPr>
        <p:txBody>
          <a:bodyPr wrap="square" lIns="0" tIns="0" rIns="0" bIns="0" rtlCol="0" anchor="ctr"/>
          <a:lstStyle/>
          <a:p>
            <a:pPr algn="l" indent="0" marL="0">
              <a:buNone/>
            </a:pPr>
            <a:r>
              <a:rPr lang="en-US" sz="1500" b="1" dirty="0">
                <a:solidFill>
                  <a:srgbClr val="1A2B2E"/>
                </a:solidFill>
                <a:latin typeface="Calibri" pitchFamily="34" charset="0"/>
                <a:ea typeface="Calibri" pitchFamily="34" charset="-122"/>
                <a:cs typeface="Calibri" pitchFamily="34" charset="-120"/>
              </a:rPr>
              <a:t>Confirms the exact mechanism</a:t>
            </a:r>
            <a:endParaRPr lang="en-US" sz="1500" dirty="0"/>
          </a:p>
        </p:txBody>
      </p:sp>
      <p:sp>
        <p:nvSpPr>
          <p:cNvPr id="14" name="Text 11"/>
          <p:cNvSpPr txBox="1"/>
          <p:nvPr/>
        </p:nvSpPr>
        <p:spPr>
          <a:xfrm>
            <a:off x="7589520" y="3447288"/>
            <a:ext cx="4114800" cy="914400"/>
          </a:xfrm>
          <a:prstGeom prst="rect">
            <a:avLst/>
          </a:prstGeom>
          <a:noFill/>
          <a:ln/>
        </p:spPr>
        <p:txBody>
          <a:bodyPr wrap="square" lIns="0" tIns="0" rIns="0" bIns="0" rtlCol="0" anchor="ctr"/>
          <a:lstStyle/>
          <a:p>
            <a:pPr algn="l" indent="0" marL="0">
              <a:buNone/>
            </a:pPr>
            <a:r>
              <a:rPr lang="en-US" sz="1250" dirty="0">
                <a:solidFill>
                  <a:srgbClr val="4E6367"/>
                </a:solidFill>
                <a:latin typeface="Calibri" pitchFamily="34" charset="0"/>
                <a:ea typeface="Calibri" pitchFamily="34" charset="-122"/>
                <a:cs typeface="Calibri" pitchFamily="34" charset="-120"/>
              </a:rPr>
              <a:t>The same Src engagement Schukken et al. (2020) showed to be selectively lethal in spindle-checkpoint-deficient cells.</a:t>
            </a:r>
            <a:endParaRPr lang="en-US" sz="1250" dirty="0"/>
          </a:p>
        </p:txBody>
      </p:sp>
      <p:sp>
        <p:nvSpPr>
          <p:cNvPr id="15" name="Shape 12"/>
          <p:cNvSpPr/>
          <p:nvPr/>
        </p:nvSpPr>
        <p:spPr>
          <a:xfrm>
            <a:off x="7040880" y="4526280"/>
            <a:ext cx="384048" cy="384048"/>
          </a:xfrm>
          <a:prstGeom prst="ellipse">
            <a:avLst/>
          </a:prstGeom>
          <a:solidFill>
            <a:srgbClr val="00A896"/>
          </a:solidFill>
          <a:ln/>
        </p:spPr>
      </p:sp>
      <p:sp>
        <p:nvSpPr>
          <p:cNvPr id="16" name="Text 13"/>
          <p:cNvSpPr txBox="1"/>
          <p:nvPr/>
        </p:nvSpPr>
        <p:spPr>
          <a:xfrm>
            <a:off x="7040880" y="4526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4"/>
          <p:cNvSpPr txBox="1"/>
          <p:nvPr/>
        </p:nvSpPr>
        <p:spPr>
          <a:xfrm>
            <a:off x="7589520" y="4480560"/>
            <a:ext cx="4114800" cy="411480"/>
          </a:xfrm>
          <a:prstGeom prst="rect">
            <a:avLst/>
          </a:prstGeom>
          <a:noFill/>
          <a:ln/>
        </p:spPr>
        <p:txBody>
          <a:bodyPr wrap="square" lIns="0" tIns="0" rIns="0" bIns="0" rtlCol="0" anchor="ctr"/>
          <a:lstStyle/>
          <a:p>
            <a:pPr algn="l" indent="0" marL="0">
              <a:buNone/>
            </a:pPr>
            <a:r>
              <a:rPr lang="en-US" sz="1500" b="1" dirty="0">
                <a:solidFill>
                  <a:srgbClr val="1A2B2E"/>
                </a:solidFill>
                <a:latin typeface="Calibri" pitchFamily="34" charset="0"/>
                <a:ea typeface="Calibri" pitchFamily="34" charset="-122"/>
                <a:cs typeface="Calibri" pitchFamily="34" charset="-120"/>
              </a:rPr>
              <a:t>PDB 3UE4</a:t>
            </a:r>
            <a:endParaRPr lang="en-US" sz="1500" dirty="0"/>
          </a:p>
        </p:txBody>
      </p:sp>
      <p:sp>
        <p:nvSpPr>
          <p:cNvPr id="18" name="Text 15"/>
          <p:cNvSpPr txBox="1"/>
          <p:nvPr/>
        </p:nvSpPr>
        <p:spPr>
          <a:xfrm>
            <a:off x="7589520" y="4910328"/>
            <a:ext cx="4114800" cy="914400"/>
          </a:xfrm>
          <a:prstGeom prst="rect">
            <a:avLst/>
          </a:prstGeom>
          <a:noFill/>
          <a:ln/>
        </p:spPr>
        <p:txBody>
          <a:bodyPr wrap="square" lIns="0" tIns="0" rIns="0" bIns="0" rtlCol="0" anchor="ctr"/>
          <a:lstStyle/>
          <a:p>
            <a:pPr algn="l" indent="0" marL="0">
              <a:buNone/>
            </a:pPr>
            <a:r>
              <a:rPr lang="en-US" sz="1250" dirty="0">
                <a:solidFill>
                  <a:srgbClr val="4E6367"/>
                </a:solidFill>
                <a:latin typeface="Calibri" pitchFamily="34" charset="0"/>
                <a:ea typeface="Calibri" pitchFamily="34" charset="-122"/>
                <a:cs typeface="Calibri" pitchFamily="34" charset="-120"/>
              </a:rPr>
              <a:t>Bosutinib is also independently solved bound to Abl kinase, its other established target.</a:t>
            </a:r>
            <a:endParaRPr lang="en-US" sz="1250" dirty="0"/>
          </a:p>
        </p:txBody>
      </p:sp>
      <p:sp>
        <p:nvSpPr>
          <p:cNvPr id="19" name="Shape 16"/>
          <p:cNvSpPr/>
          <p:nvPr/>
        </p:nvSpPr>
        <p:spPr>
          <a:xfrm>
            <a:off x="7040880" y="5806440"/>
            <a:ext cx="4572000" cy="594360"/>
          </a:xfrm>
          <a:prstGeom prst="roundRect">
            <a:avLst>
              <a:gd name="adj" fmla="val 15385"/>
            </a:avLst>
          </a:prstGeom>
          <a:solidFill>
            <a:srgbClr val="F2F9F8"/>
          </a:solidFill>
          <a:ln/>
        </p:spPr>
      </p:sp>
      <p:sp>
        <p:nvSpPr>
          <p:cNvPr id="20" name="Text 17"/>
          <p:cNvSpPr txBox="1"/>
          <p:nvPr/>
        </p:nvSpPr>
        <p:spPr>
          <a:xfrm>
            <a:off x="7223760" y="5806440"/>
            <a:ext cx="4297680" cy="594360"/>
          </a:xfrm>
          <a:prstGeom prst="rect">
            <a:avLst/>
          </a:prstGeom>
          <a:noFill/>
          <a:ln/>
        </p:spPr>
        <p:txBody>
          <a:bodyPr wrap="square" lIns="0" tIns="0" rIns="0" bIns="0" rtlCol="0" anchor="ctr"/>
          <a:lstStyle/>
          <a:p>
            <a:pPr algn="l" indent="0" marL="0">
              <a:buNone/>
            </a:pPr>
            <a:r>
              <a:rPr lang="en-US" sz="1100" i="1" dirty="0">
                <a:solidFill>
                  <a:srgbClr val="028090"/>
                </a:solidFill>
                <a:latin typeface="Calibri" pitchFamily="34" charset="0"/>
                <a:ea typeface="Calibri" pitchFamily="34" charset="-122"/>
                <a:cs typeface="Calibri" pitchFamily="34" charset="-120"/>
              </a:rPr>
              <a:t>A solved structure is stronger evidence of compatibility than docking would be.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8090"/>
          </a:solidFill>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4" name="Text 2"/>
          <p:cNvSpPr txBox="1"/>
          <p:nvPr/>
        </p:nvSpPr>
        <p:spPr>
          <a:xfrm>
            <a:off x="1234440" y="438912"/>
            <a:ext cx="9601200" cy="594360"/>
          </a:xfrm>
          <a:prstGeom prst="rect">
            <a:avLst/>
          </a:prstGeom>
          <a:noFill/>
          <a:ln/>
        </p:spPr>
        <p:txBody>
          <a:bodyPr wrap="square" lIns="0" tIns="0" rIns="0" bIns="0" rtlCol="0" anchor="ctr"/>
          <a:lstStyle/>
          <a:p>
            <a:pPr algn="l" indent="0" marL="0">
              <a:buNone/>
            </a:pPr>
            <a:r>
              <a:rPr lang="en-US" sz="3000" b="1" dirty="0">
                <a:solidFill>
                  <a:srgbClr val="1A2B2E"/>
                </a:solidFill>
                <a:latin typeface="Cambria" pitchFamily="34" charset="0"/>
                <a:ea typeface="Cambria" pitchFamily="34" charset="-122"/>
                <a:cs typeface="Cambria" pitchFamily="34" charset="-120"/>
              </a:rPr>
              <a:t>Beyond this one child</a:t>
            </a:r>
            <a:endParaRPr lang="en-US" sz="3000" dirty="0"/>
          </a:p>
        </p:txBody>
      </p:sp>
      <p:sp>
        <p:nvSpPr>
          <p:cNvPr id="5" name="Shape 3"/>
          <p:cNvSpPr/>
          <p:nvPr/>
        </p:nvSpPr>
        <p:spPr>
          <a:xfrm>
            <a:off x="822960" y="1600200"/>
            <a:ext cx="457200" cy="457200"/>
          </a:xfrm>
          <a:prstGeom prst="ellipse">
            <a:avLst/>
          </a:prstGeom>
          <a:solidFill>
            <a:srgbClr val="02C39A"/>
          </a:solidFill>
          <a:ln/>
        </p:spPr>
      </p:sp>
      <p:sp>
        <p:nvSpPr>
          <p:cNvPr id="6" name="Text 4"/>
          <p:cNvSpPr txBox="1"/>
          <p:nvPr/>
        </p:nvSpPr>
        <p:spPr>
          <a:xfrm>
            <a:off x="822960" y="160020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508760" y="1554480"/>
            <a:ext cx="9509760" cy="411480"/>
          </a:xfrm>
          <a:prstGeom prst="rect">
            <a:avLst/>
          </a:prstGeom>
          <a:noFill/>
          <a:ln/>
        </p:spPr>
        <p:txBody>
          <a:bodyPr wrap="square" lIns="0" tIns="0" rIns="0" bIns="0" rtlCol="0" anchor="ctr"/>
          <a:lstStyle/>
          <a:p>
            <a:pPr algn="l" indent="0" marL="0">
              <a:buNone/>
            </a:pPr>
            <a:r>
              <a:rPr lang="en-US" sz="1700" b="1" dirty="0">
                <a:solidFill>
                  <a:srgbClr val="1A2B2E"/>
                </a:solidFill>
                <a:latin typeface="Calibri" pitchFamily="34" charset="0"/>
                <a:ea typeface="Calibri" pitchFamily="34" charset="-122"/>
                <a:cs typeface="Calibri" pitchFamily="34" charset="-120"/>
              </a:rPr>
              <a:t>Generalizes to the other two MVA genes</a:t>
            </a:r>
            <a:endParaRPr lang="en-US" sz="1700" dirty="0"/>
          </a:p>
        </p:txBody>
      </p:sp>
      <p:sp>
        <p:nvSpPr>
          <p:cNvPr id="8" name="Text 6"/>
          <p:cNvSpPr txBox="1"/>
          <p:nvPr/>
        </p:nvSpPr>
        <p:spPr>
          <a:xfrm>
            <a:off x="1508760" y="1984248"/>
            <a:ext cx="9509760" cy="685800"/>
          </a:xfrm>
          <a:prstGeom prst="rect">
            <a:avLst/>
          </a:prstGeom>
          <a:noFill/>
          <a:ln/>
        </p:spPr>
        <p:txBody>
          <a:bodyPr wrap="square" lIns="0" tIns="0" rIns="0" bIns="0" rtlCol="0" anchor="ctr"/>
          <a:lstStyle/>
          <a:p>
            <a:pPr algn="l" indent="0" marL="0">
              <a:buNone/>
            </a:pPr>
            <a:r>
              <a:rPr lang="en-US" sz="1350" dirty="0">
                <a:solidFill>
                  <a:srgbClr val="4E6367"/>
                </a:solidFill>
                <a:latin typeface="Calibri" pitchFamily="34" charset="0"/>
                <a:ea typeface="Calibri" pitchFamily="34" charset="-122"/>
                <a:cs typeface="Calibri" pitchFamily="34" charset="-120"/>
              </a:rPr>
              <a:t>CEP57 (MVA2) and TRIP13 (MVA3) converge on the same spindle-checkpoint pathway.</a:t>
            </a:r>
            <a:endParaRPr lang="en-US" sz="1350" dirty="0"/>
          </a:p>
        </p:txBody>
      </p:sp>
      <p:sp>
        <p:nvSpPr>
          <p:cNvPr id="9" name="Shape 7"/>
          <p:cNvSpPr/>
          <p:nvPr/>
        </p:nvSpPr>
        <p:spPr>
          <a:xfrm>
            <a:off x="822960" y="2880360"/>
            <a:ext cx="457200" cy="457200"/>
          </a:xfrm>
          <a:prstGeom prst="ellipse">
            <a:avLst/>
          </a:prstGeom>
          <a:solidFill>
            <a:srgbClr val="02C39A"/>
          </a:solidFill>
          <a:ln/>
        </p:spPr>
      </p:sp>
      <p:sp>
        <p:nvSpPr>
          <p:cNvPr id="10" name="Text 8"/>
          <p:cNvSpPr txBox="1"/>
          <p:nvPr/>
        </p:nvSpPr>
        <p:spPr>
          <a:xfrm>
            <a:off x="822960" y="288036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508760" y="2834640"/>
            <a:ext cx="9509760" cy="411480"/>
          </a:xfrm>
          <a:prstGeom prst="rect">
            <a:avLst/>
          </a:prstGeom>
          <a:noFill/>
          <a:ln/>
        </p:spPr>
        <p:txBody>
          <a:bodyPr wrap="square" lIns="0" tIns="0" rIns="0" bIns="0" rtlCol="0" anchor="ctr"/>
          <a:lstStyle/>
          <a:p>
            <a:pPr algn="l" indent="0" marL="0">
              <a:buNone/>
            </a:pPr>
            <a:r>
              <a:rPr lang="en-US" sz="1700" b="1" dirty="0">
                <a:solidFill>
                  <a:srgbClr val="1A2B2E"/>
                </a:solidFill>
                <a:latin typeface="Calibri" pitchFamily="34" charset="0"/>
                <a:ea typeface="Calibri" pitchFamily="34" charset="-122"/>
                <a:cs typeface="Calibri" pitchFamily="34" charset="-120"/>
              </a:rPr>
              <a:t>Generalizes to chromosomally unstable tumors broadly</a:t>
            </a:r>
            <a:endParaRPr lang="en-US" sz="1700" dirty="0"/>
          </a:p>
        </p:txBody>
      </p:sp>
      <p:sp>
        <p:nvSpPr>
          <p:cNvPr id="12" name="Text 10"/>
          <p:cNvSpPr txBox="1"/>
          <p:nvPr/>
        </p:nvSpPr>
        <p:spPr>
          <a:xfrm>
            <a:off x="1508760" y="3264408"/>
            <a:ext cx="9509760" cy="685800"/>
          </a:xfrm>
          <a:prstGeom prst="rect">
            <a:avLst/>
          </a:prstGeom>
          <a:noFill/>
          <a:ln/>
        </p:spPr>
        <p:txBody>
          <a:bodyPr wrap="square" lIns="0" tIns="0" rIns="0" bIns="0" rtlCol="0" anchor="ctr"/>
          <a:lstStyle/>
          <a:p>
            <a:pPr algn="l" indent="0" marL="0">
              <a:buNone/>
            </a:pPr>
            <a:r>
              <a:rPr lang="en-US" sz="1350" dirty="0">
                <a:solidFill>
                  <a:srgbClr val="4E6367"/>
                </a:solidFill>
                <a:latin typeface="Calibri" pitchFamily="34" charset="0"/>
                <a:ea typeface="Calibri" pitchFamily="34" charset="-122"/>
                <a:cs typeface="Calibri" pitchFamily="34" charset="-120"/>
              </a:rPr>
              <a:t>BUB1B/BUBR1 dependency independently reported in glioblastoma (Ding et al. 2012) and prostate cancer (Martinez et al. 2025).</a:t>
            </a:r>
            <a:endParaRPr lang="en-US" sz="1350" dirty="0"/>
          </a:p>
        </p:txBody>
      </p:sp>
      <p:sp>
        <p:nvSpPr>
          <p:cNvPr id="13" name="Shape 11"/>
          <p:cNvSpPr/>
          <p:nvPr/>
        </p:nvSpPr>
        <p:spPr>
          <a:xfrm>
            <a:off x="822960" y="4160520"/>
            <a:ext cx="457200" cy="457200"/>
          </a:xfrm>
          <a:prstGeom prst="ellipse">
            <a:avLst/>
          </a:prstGeom>
          <a:solidFill>
            <a:srgbClr val="02C39A"/>
          </a:solidFill>
          <a:ln/>
        </p:spPr>
      </p:sp>
      <p:sp>
        <p:nvSpPr>
          <p:cNvPr id="14" name="Text 12"/>
          <p:cNvSpPr txBox="1"/>
          <p:nvPr/>
        </p:nvSpPr>
        <p:spPr>
          <a:xfrm>
            <a:off x="822960" y="416052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1508760" y="4114800"/>
            <a:ext cx="9509760" cy="411480"/>
          </a:xfrm>
          <a:prstGeom prst="rect">
            <a:avLst/>
          </a:prstGeom>
          <a:noFill/>
          <a:ln/>
        </p:spPr>
        <p:txBody>
          <a:bodyPr wrap="square" lIns="0" tIns="0" rIns="0" bIns="0" rtlCol="0" anchor="ctr"/>
          <a:lstStyle/>
          <a:p>
            <a:pPr algn="l" indent="0" marL="0">
              <a:buNone/>
            </a:pPr>
            <a:r>
              <a:rPr lang="en-US" sz="1700" b="1" dirty="0">
                <a:solidFill>
                  <a:srgbClr val="1A2B2E"/>
                </a:solidFill>
                <a:latin typeface="Calibri" pitchFamily="34" charset="0"/>
                <a:ea typeface="Calibri" pitchFamily="34" charset="-122"/>
                <a:cs typeface="Calibri" pitchFamily="34" charset="-120"/>
              </a:rPr>
              <a:t>A reusable pipeline, not a one-off</a:t>
            </a:r>
            <a:endParaRPr lang="en-US" sz="1700" dirty="0"/>
          </a:p>
        </p:txBody>
      </p:sp>
      <p:sp>
        <p:nvSpPr>
          <p:cNvPr id="16" name="Text 14"/>
          <p:cNvSpPr txBox="1"/>
          <p:nvPr/>
        </p:nvSpPr>
        <p:spPr>
          <a:xfrm>
            <a:off x="1508760" y="4544568"/>
            <a:ext cx="9509760" cy="685800"/>
          </a:xfrm>
          <a:prstGeom prst="rect">
            <a:avLst/>
          </a:prstGeom>
          <a:noFill/>
          <a:ln/>
        </p:spPr>
        <p:txBody>
          <a:bodyPr wrap="square" lIns="0" tIns="0" rIns="0" bIns="0" rtlCol="0" anchor="ctr"/>
          <a:lstStyle/>
          <a:p>
            <a:pPr algn="l" indent="0" marL="0">
              <a:buNone/>
            </a:pPr>
            <a:r>
              <a:rPr lang="en-US" sz="1350" dirty="0">
                <a:solidFill>
                  <a:srgbClr val="4E6367"/>
                </a:solidFill>
                <a:latin typeface="Calibri" pitchFamily="34" charset="0"/>
                <a:ea typeface="Calibri" pitchFamily="34" charset="-122"/>
                <a:cs typeface="Calibri" pitchFamily="34" charset="-120"/>
              </a:rPr>
              <a:t>Phenotype → mechanism → literature-mined approved drugs — directly applicable to the next undiagnosed rare-disease case.</a:t>
            </a:r>
            <a:endParaRPr lang="en-US" sz="1350" dirty="0"/>
          </a:p>
        </p:txBody>
      </p:sp>
      <p:sp>
        <p:nvSpPr>
          <p:cNvPr id="17" name="Shape 15"/>
          <p:cNvSpPr/>
          <p:nvPr/>
        </p:nvSpPr>
        <p:spPr>
          <a:xfrm>
            <a:off x="731520" y="5623560"/>
            <a:ext cx="10698480" cy="777240"/>
          </a:xfrm>
          <a:prstGeom prst="roundRect">
            <a:avLst>
              <a:gd name="adj" fmla="val 11765"/>
            </a:avLst>
          </a:prstGeom>
          <a:solidFill>
            <a:srgbClr val="D9F0EE"/>
          </a:solidFill>
          <a:ln/>
        </p:spPr>
      </p:sp>
      <p:sp>
        <p:nvSpPr>
          <p:cNvPr id="18" name="Text 16"/>
          <p:cNvSpPr txBox="1"/>
          <p:nvPr/>
        </p:nvSpPr>
        <p:spPr>
          <a:xfrm>
            <a:off x="1005840" y="5623560"/>
            <a:ext cx="10149840" cy="777240"/>
          </a:xfrm>
          <a:prstGeom prst="rect">
            <a:avLst/>
          </a:prstGeom>
          <a:noFill/>
          <a:ln/>
        </p:spPr>
        <p:txBody>
          <a:bodyPr wrap="square" lIns="0" tIns="0" rIns="0" bIns="0" rtlCol="0" anchor="ctr"/>
          <a:lstStyle/>
          <a:p>
            <a:pPr algn="l" indent="0" marL="0">
              <a:buNone/>
            </a:pPr>
            <a:r>
              <a:rPr lang="en-US" sz="1250" i="1" dirty="0">
                <a:solidFill>
                  <a:srgbClr val="028090"/>
                </a:solidFill>
                <a:latin typeface="Calibri" pitchFamily="34" charset="0"/>
                <a:ea typeface="Calibri" pitchFamily="34" charset="-122"/>
                <a:cs typeface="Calibri" pitchFamily="34" charset="-120"/>
              </a:rPr>
              <a:t>Same triage logic already found this compound-het pair independently confirmed by ~20 other teams in this hackathon.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1353C"/>
        </a:solidFill>
      </p:bgPr>
    </p:bg>
    <p:spTree>
      <p:nvGrpSpPr>
        <p:cNvPr id="1" name=""/>
        <p:cNvGrpSpPr/>
        <p:nvPr/>
      </p:nvGrpSpPr>
      <p:grpSpPr>
        <a:xfrm>
          <a:off x="0" y="0"/>
          <a:ext cx="0" cy="0"/>
          <a:chOff x="0" y="0"/>
          <a:chExt cx="0" cy="0"/>
        </a:xfrm>
      </p:grpSpPr>
      <p:sp>
        <p:nvSpPr>
          <p:cNvPr id="2" name="Shape 0"/>
          <p:cNvSpPr/>
          <p:nvPr/>
        </p:nvSpPr>
        <p:spPr>
          <a:xfrm>
            <a:off x="-1097280" y="-1188720"/>
            <a:ext cx="3657600" cy="3657600"/>
          </a:xfrm>
          <a:prstGeom prst="ellipse">
            <a:avLst/>
          </a:prstGeom>
          <a:solidFill>
            <a:srgbClr val="023E45"/>
          </a:solidFill>
          <a:ln/>
        </p:spPr>
      </p:sp>
      <p:sp>
        <p:nvSpPr>
          <p:cNvPr id="3" name="Shape 1"/>
          <p:cNvSpPr/>
          <p:nvPr/>
        </p:nvSpPr>
        <p:spPr>
          <a:xfrm>
            <a:off x="10515600" y="5120640"/>
            <a:ext cx="3291840" cy="3291840"/>
          </a:xfrm>
          <a:prstGeom prst="ellipse">
            <a:avLst/>
          </a:prstGeom>
          <a:solidFill>
            <a:srgbClr val="023E45"/>
          </a:solidFill>
          <a:ln/>
        </p:spPr>
      </p:sp>
      <p:sp>
        <p:nvSpPr>
          <p:cNvPr id="4" name="Text 2"/>
          <p:cNvSpPr txBox="1"/>
          <p:nvPr/>
        </p:nvSpPr>
        <p:spPr>
          <a:xfrm>
            <a:off x="731520" y="1463040"/>
            <a:ext cx="10698480" cy="155448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Hypotheses for follow-up,</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not proven treatments</a:t>
            </a:r>
            <a:endParaRPr lang="en-US" sz="3800" dirty="0"/>
          </a:p>
        </p:txBody>
      </p:sp>
      <p:sp>
        <p:nvSpPr>
          <p:cNvPr id="5" name="Text 3"/>
          <p:cNvSpPr txBox="1"/>
          <p:nvPr/>
        </p:nvSpPr>
        <p:spPr>
          <a:xfrm>
            <a:off x="731520" y="3063240"/>
            <a:ext cx="10058400" cy="502920"/>
          </a:xfrm>
          <a:prstGeom prst="rect">
            <a:avLst/>
          </a:prstGeom>
          <a:noFill/>
          <a:ln/>
        </p:spPr>
        <p:txBody>
          <a:bodyPr wrap="square" lIns="0" tIns="0" rIns="0" bIns="0" rtlCol="0" anchor="ctr"/>
          <a:lstStyle/>
          <a:p>
            <a:pPr algn="l" indent="0" marL="0">
              <a:buNone/>
            </a:pPr>
            <a:r>
              <a:rPr lang="en-US" sz="1600" dirty="0">
                <a:solidFill>
                  <a:srgbClr val="D9F0EE"/>
                </a:solidFill>
                <a:latin typeface="Calibri" pitchFamily="34" charset="0"/>
                <a:ea typeface="Calibri" pitchFamily="34" charset="-122"/>
                <a:cs typeface="Calibri" pitchFamily="34" charset="-120"/>
              </a:rPr>
              <a:t>Next step: validation in this child's own patient-derived cells (e.g. fibroblasts).</a:t>
            </a:r>
            <a:endParaRPr lang="en-US" sz="1600" dirty="0"/>
          </a:p>
        </p:txBody>
      </p:sp>
      <p:sp>
        <p:nvSpPr>
          <p:cNvPr id="6" name="Shape 4"/>
          <p:cNvSpPr/>
          <p:nvPr/>
        </p:nvSpPr>
        <p:spPr>
          <a:xfrm>
            <a:off x="731520" y="4160520"/>
            <a:ext cx="7863840" cy="777240"/>
          </a:xfrm>
          <a:prstGeom prst="roundRect">
            <a:avLst>
              <a:gd name="adj" fmla="val 11765"/>
            </a:avLst>
          </a:prstGeom>
          <a:solidFill>
            <a:srgbClr val="023E45"/>
          </a:solidFill>
          <a:ln/>
        </p:spPr>
      </p:sp>
      <p:sp>
        <p:nvSpPr>
          <p:cNvPr id="7" name="Text 5"/>
          <p:cNvSpPr txBox="1"/>
          <p:nvPr/>
        </p:nvSpPr>
        <p:spPr>
          <a:xfrm>
            <a:off x="1005840" y="4160520"/>
            <a:ext cx="7315200" cy="777240"/>
          </a:xfrm>
          <a:prstGeom prst="rect">
            <a:avLst/>
          </a:prstGeom>
          <a:noFill/>
          <a:ln/>
        </p:spPr>
        <p:txBody>
          <a:bodyPr wrap="square" lIns="0" tIns="0" rIns="0" bIns="0" rtlCol="0" anchor="ctr"/>
          <a:lstStyle/>
          <a:p>
            <a:pPr algn="l" indent="0" marL="0">
              <a:buNone/>
            </a:pPr>
            <a:r>
              <a:rPr lang="en-US" sz="1400" b="1" dirty="0">
                <a:solidFill>
                  <a:srgbClr val="D9F0EE"/>
                </a:solidFill>
                <a:latin typeface="Calibri" pitchFamily="34" charset="0"/>
                <a:ea typeface="Calibri" pitchFamily="34" charset="-122"/>
                <a:cs typeface="Calibri" pitchFamily="34" charset="-120"/>
              </a:rPr>
              <a:t>Code &amp; reports: </a:t>
            </a:r>
            <a:pPr algn="l" indent="0" marL="0">
              <a:buNone/>
            </a:pPr>
            <a:r>
              <a:rPr lang="en-US" sz="1400" dirty="0">
                <a:solidFill>
                  <a:srgbClr val="00A896"/>
                </a:solidFill>
                <a:latin typeface="Calibri" pitchFamily="34" charset="0"/>
                <a:ea typeface="Calibri" pitchFamily="34" charset="-122"/>
                <a:cs typeface="Calibri" pitchFamily="34" charset="-120"/>
              </a:rPr>
              <a:t>github.com/RuizHernandez/mva-hackathon-2026</a:t>
            </a:r>
            <a:endParaRPr lang="en-US" sz="1400" dirty="0"/>
          </a:p>
        </p:txBody>
      </p:sp>
      <p:sp>
        <p:nvSpPr>
          <p:cNvPr id="8" name="Text 6"/>
          <p:cNvSpPr txBox="1"/>
          <p:nvPr/>
        </p:nvSpPr>
        <p:spPr>
          <a:xfrm>
            <a:off x="731520" y="5623560"/>
            <a:ext cx="5486400" cy="457200"/>
          </a:xfrm>
          <a:prstGeom prst="rect">
            <a:avLst/>
          </a:prstGeom>
          <a:noFill/>
          <a:ln/>
        </p:spPr>
        <p:txBody>
          <a:bodyPr wrap="square" lIns="0" tIns="0" rIns="0" bIns="0" rtlCol="0" anchor="ctr"/>
          <a:lstStyle/>
          <a:p>
            <a:pPr algn="l" indent="0" marL="0">
              <a:buNone/>
            </a:pPr>
            <a:r>
              <a:rPr lang="en-US" sz="1800" i="1" dirty="0">
                <a:solidFill>
                  <a:srgbClr val="02C39A"/>
                </a:solidFill>
                <a:latin typeface="Cambria" pitchFamily="34" charset="0"/>
                <a:ea typeface="Cambria" pitchFamily="34" charset="-122"/>
                <a:cs typeface="Cambria" pitchFamily="34" charset="-120"/>
              </a:rPr>
              <a:t>Thank you.</a:t>
            </a:r>
            <a:endParaRPr lang="en-US" sz="1800" dirty="0"/>
          </a:p>
        </p:txBody>
      </p:sp>
      <p:sp>
        <p:nvSpPr>
          <p:cNvPr id="9" name="Text 7"/>
          <p:cNvSpPr txBox="1"/>
          <p:nvPr/>
        </p:nvSpPr>
        <p:spPr>
          <a:xfrm>
            <a:off x="731520" y="6355080"/>
            <a:ext cx="7315200" cy="365760"/>
          </a:xfrm>
          <a:prstGeom prst="rect">
            <a:avLst/>
          </a:prstGeom>
          <a:noFill/>
          <a:ln/>
        </p:spPr>
        <p:txBody>
          <a:bodyPr wrap="square" lIns="0" tIns="0" rIns="0" bIns="0" rtlCol="0" anchor="ctr"/>
          <a:lstStyle/>
          <a:p>
            <a:pPr algn="l" indent="0" marL="0">
              <a:buNone/>
            </a:pPr>
            <a:r>
              <a:rPr lang="en-US" sz="1200" dirty="0">
                <a:solidFill>
                  <a:srgbClr val="4E6367"/>
                </a:solidFill>
                <a:latin typeface="Calibri" pitchFamily="34" charset="0"/>
                <a:ea typeface="Calibri" pitchFamily="34" charset="-122"/>
                <a:cs typeface="Calibri" pitchFamily="34" charset="-120"/>
              </a:rPr>
              <a:t>MVA Hackathon 2026 · Track 2 — Drug Repurposing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2026-08-30T13:37:06Z</dcterms:created>
  <dcterms:modified xsi:type="dcterms:W3CDTF">2026-08-30T13:37:06Z</dcterms:modified>
</cp:coreProperties>
</file>